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217920" y="-914400"/>
            <a:ext cx="3657600" cy="3657600"/>
          </a:xfrm>
          <a:prstGeom prst="ellipse">
            <a:avLst/>
          </a:prstGeom>
          <a:solidFill>
            <a:srgbClr val="F5A623">
              <a:alpha val="30000"/>
            </a:srgbClr>
          </a:solidFill>
          <a:ln w="12700">
            <a:solidFill>
              <a:srgbClr val="F5A623">
                <a:alpha val="3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548640" y="3474720"/>
            <a:ext cx="2011680" cy="2011680"/>
          </a:xfrm>
          <a:prstGeom prst="ellipse">
            <a:avLst/>
          </a:prstGeom>
          <a:solidFill>
            <a:srgbClr val="E94560">
              <a:alpha val="40000"/>
            </a:srgbClr>
          </a:solidFill>
          <a:ln w="12700">
            <a:solidFill>
              <a:srgbClr val="E94560">
                <a:alpha val="4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749808"/>
            <a:ext cx="2743200" cy="365760"/>
          </a:xfrm>
          <a:prstGeom prst="roundRect">
            <a:avLst>
              <a:gd name="adj" fmla="val 20000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74980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Тема 3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261872"/>
            <a:ext cx="804672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Интерфейс подсистем</a:t>
            </a:r>
            <a:endParaRPr lang="en-US" sz="2600" dirty="0"/>
          </a:p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Subsystem Interfaces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3364992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8F4F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Проект ТППО: «Личный кабинет для клиентов компании»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462272"/>
            <a:ext cx="9144000" cy="681228"/>
          </a:xfrm>
          <a:prstGeom prst="rect">
            <a:avLst/>
          </a:prstGeom>
          <a:solidFill>
            <a:srgbClr val="0D0D1A"/>
          </a:solidFill>
          <a:ln w="12700">
            <a:solidFill>
              <a:srgbClr val="0D0D1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4462272"/>
            <a:ext cx="8229600" cy="6812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B8B0C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Выполнила: Ломазина Александра, гр 22307   |   Руководитель: Корзун Дмитрий Жоржевич   |   ИМИТ ПетрГУ,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Постановка задачи моделирования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384048" y="822960"/>
            <a:ext cx="8375904" cy="4119372"/>
          </a:xfrm>
          <a:prstGeom prst="roundRect">
            <a:avLst>
              <a:gd name="adj" fmla="val 2220"/>
            </a:avLst>
          </a:prstGeom>
          <a:solidFill>
            <a:srgbClr val="F8F4F0"/>
          </a:solidFill>
          <a:ln w="12700">
            <a:solidFill>
              <a:srgbClr val="EFEAE3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932688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Постановка практической задачи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8046720" cy="32964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Обеспечить стабильное взаимодействие Frontend, Backend, двух баз PostgreSQL, MinIO и внешней системы 1С.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Конкретная задача моделирования: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Описать интерфейсы (контракты) между всеми подсистемами для достижения слабой связанности, масштабируемости и отказоустойчивости.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Что такое интерфейс подсистемы?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384048" y="822960"/>
            <a:ext cx="8375904" cy="4119372"/>
          </a:xfrm>
          <a:prstGeom prst="roundRect">
            <a:avLst>
              <a:gd name="adj" fmla="val 2220"/>
            </a:avLst>
          </a:prstGeom>
          <a:solidFill>
            <a:srgbClr val="F8F4F0"/>
          </a:solidFill>
          <a:ln w="12700">
            <a:solidFill>
              <a:srgbClr val="EFEAE3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932688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Понятие интерфейса-контракта и зачем его проектировать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8046720" cy="32964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Интерфейс — это четко определенная граница взаимодействия (стык) между независимыми частями системы. Он выступает в роли контракта: одна сторона обязуется предоставить данные строго определенного формата, а вторая — принять их.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Зачем проектировать интерфейсы?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Полная инкапсуляция: скрытие деталей реализации подсистемы.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Слабая связанность: замена бэкенда не ломает верстку фронтенда.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Параллельная разработка команд по заранее согласованным мокам.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Подсистемы в проекте client-portal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384048" y="822960"/>
            <a:ext cx="4096512" cy="1312164"/>
          </a:xfrm>
          <a:prstGeom prst="roundRect">
            <a:avLst>
              <a:gd name="adj" fmla="val 6969"/>
            </a:avLst>
          </a:prstGeom>
          <a:solidFill>
            <a:srgbClr val="F8F4F0"/>
          </a:solidFill>
          <a:ln w="12700">
            <a:solidFill>
              <a:srgbClr val="EFEAE3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21208" y="896112"/>
            <a:ext cx="38221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Web / Mobile Frontend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21208" y="1207008"/>
            <a:ext cx="3822192" cy="8549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Клиентская часть на React. Отправляет JSON-запросы на Backend API, отрисовывает UI, рендерит чат и загружает файлы.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663440" y="822960"/>
            <a:ext cx="4096512" cy="1312164"/>
          </a:xfrm>
          <a:prstGeom prst="roundRect">
            <a:avLst>
              <a:gd name="adj" fmla="val 6969"/>
            </a:avLst>
          </a:prstGeom>
          <a:solidFill>
            <a:srgbClr val="D4EDDA"/>
          </a:solidFill>
          <a:ln w="12700">
            <a:solidFill>
              <a:srgbClr val="EFEAE3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800600" y="896112"/>
            <a:ext cx="38221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Backend API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800600" y="1207008"/>
            <a:ext cx="3822192" cy="8549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Серверное ядро на Node.js (Express). Отвечает за роутинг, валидацию данных, JWT-авторизацию и фоновые задачи.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84048" y="2226564"/>
            <a:ext cx="4096512" cy="1312164"/>
          </a:xfrm>
          <a:prstGeom prst="roundRect">
            <a:avLst>
              <a:gd name="adj" fmla="val 6969"/>
            </a:avLst>
          </a:prstGeom>
          <a:solidFill>
            <a:srgbClr val="F8F4F0"/>
          </a:solidFill>
          <a:ln w="12700">
            <a:solidFill>
              <a:srgbClr val="EFEAE3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21208" y="2299716"/>
            <a:ext cx="38221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PostgreSQL Database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21208" y="2610612"/>
            <a:ext cx="3822192" cy="8549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Основная реляционная БД портала. Хранит учетные записи пользователей, сессии чата, логи синхронизации и тикеты.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663440" y="2226564"/>
            <a:ext cx="4096512" cy="1312164"/>
          </a:xfrm>
          <a:prstGeom prst="roundRect">
            <a:avLst>
              <a:gd name="adj" fmla="val 6969"/>
            </a:avLst>
          </a:prstGeom>
          <a:solidFill>
            <a:srgbClr val="D4EDDA"/>
          </a:solidFill>
          <a:ln w="12700">
            <a:solidFill>
              <a:srgbClr val="EFEAE3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800600" y="2299716"/>
            <a:ext cx="38221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 S3 Storage MinIO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800600" y="2610612"/>
            <a:ext cx="3822192" cy="8549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Объектное хранилище для тяжелых вложений (скриншоты ошибок, базы данных 1С клиентов, логи, отчеты).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84048" y="3630168"/>
            <a:ext cx="4096512" cy="1312164"/>
          </a:xfrm>
          <a:prstGeom prst="roundRect">
            <a:avLst>
              <a:gd name="adj" fmla="val 6969"/>
            </a:avLst>
          </a:prstGeom>
          <a:solidFill>
            <a:srgbClr val="F8F4F0"/>
          </a:solidFill>
          <a:ln w="12700">
            <a:solidFill>
              <a:srgbClr val="EFEAE3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21208" y="3703320"/>
            <a:ext cx="38221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 WebSocket Service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21208" y="4014216"/>
            <a:ext cx="3822192" cy="8549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Служба мгновенной доставки сообщений и нотификаций. Держит постоянное дуплексное сетевое соединение.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663440" y="3630168"/>
            <a:ext cx="4096512" cy="1312164"/>
          </a:xfrm>
          <a:prstGeom prst="roundRect">
            <a:avLst>
              <a:gd name="adj" fmla="val 6969"/>
            </a:avLst>
          </a:prstGeom>
          <a:solidFill>
            <a:srgbClr val="D4EDDA"/>
          </a:solidFill>
          <a:ln w="12700">
            <a:solidFill>
              <a:srgbClr val="EFEAE3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00600" y="3703320"/>
            <a:ext cx="38221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6. Sync &amp; 1C Simulator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800600" y="4014216"/>
            <a:ext cx="3822192" cy="8549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Внешняя база-реплика и фоновые процессы обмена, симулирующие учетный контур 1С на предприятии.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Стыковка подсистем: спецификация интерфейсов</a:t>
            </a:r>
            <a:endParaRPr lang="en-US" sz="16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" y="822960"/>
          <a:ext cx="8375904" cy="4119372"/>
        </p:xfrm>
        <a:graphic>
          <a:graphicData uri="http://schemas.openxmlformats.org/drawingml/2006/table">
            <a:tbl>
              <a:tblPr/>
              <a:tblGrid>
                <a:gridCol w="2286000"/>
                <a:gridCol w="2560320"/>
                <a:gridCol w="3529584"/>
              </a:tblGrid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Пара подсистем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Протокол / Стык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Характер передачи данных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Frontend ↔ Backend API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REST API (HTTP, JSON)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Синхронный (запрос-ответ)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Frontend ↔ WebSocket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WebSocket (WS, JSON)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Асинхронный дуплексный (push)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Backend ↔ PostgreSQL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TCP / PostgreSQL Driver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Синхронный пул соединений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Backend ↔ S3 MinIO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AWS SDK S3 API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Синхронный (запросы presigned URLs)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Frontend ↔ S3 MinIO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HTTP PUT / Direct binary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Прямая бинарная загрузка в обход API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Backend ↔ 1C Replica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PostgreSQL / pg Client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Асинхронная очередь (Outbox pattern)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Диаграмма компонентов UML (Component Diagram)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2011680" cy="914400"/>
          </a:xfrm>
          <a:prstGeom prst="roundRect">
            <a:avLst>
              <a:gd name="adj" fmla="val 8000"/>
            </a:avLst>
          </a:prstGeom>
          <a:solidFill>
            <a:srgbClr val="F8F4F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2011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</a:rPr>
              <a:t>Web / Mobile Client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</a:rPr>
              <a:t>(Frontend)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200400" y="1005840"/>
            <a:ext cx="2286000" cy="914400"/>
          </a:xfrm>
          <a:prstGeom prst="roundRect">
            <a:avLst>
              <a:gd name="adj" fmla="val 8000"/>
            </a:avLst>
          </a:prstGeom>
          <a:solidFill>
            <a:srgbClr val="F8F4F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00400" y="1005840"/>
            <a:ext cx="2286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</a:rPr>
              <a:t>Backend API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</a:rPr>
              <a:t>(Node.js + Express)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217920" y="1005840"/>
            <a:ext cx="2011680" cy="914400"/>
          </a:xfrm>
          <a:prstGeom prst="roundRect">
            <a:avLst>
              <a:gd name="adj" fmla="val 8000"/>
            </a:avLst>
          </a:prstGeom>
          <a:solidFill>
            <a:srgbClr val="F8F4F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217920" y="1005840"/>
            <a:ext cx="2011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</a:rPr>
              <a:t>Internal DB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</a:rPr>
              <a:t>(PostgreSQL)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743200" y="2651760"/>
            <a:ext cx="2560320" cy="914400"/>
          </a:xfrm>
          <a:prstGeom prst="roundRect">
            <a:avLst>
              <a:gd name="adj" fmla="val 8000"/>
            </a:avLst>
          </a:prstGeom>
          <a:solidFill>
            <a:srgbClr val="F8F4F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43200" y="2651760"/>
            <a:ext cx="25603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</a:rPr>
              <a:t>S3 Storage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</a:rPr>
              <a:t>(MinIO)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2651760"/>
            <a:ext cx="1645920" cy="914400"/>
          </a:xfrm>
          <a:prstGeom prst="roundRect">
            <a:avLst>
              <a:gd name="adj" fmla="val 8000"/>
            </a:avLst>
          </a:prstGeom>
          <a:solidFill>
            <a:srgbClr val="F8F4F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2651760"/>
            <a:ext cx="1645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</a:rPr>
              <a:t>Sync Service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</a:rPr>
              <a:t>(Inbound/Outbox)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943600" y="2834640"/>
            <a:ext cx="2286000" cy="914400"/>
          </a:xfrm>
          <a:prstGeom prst="roundRect">
            <a:avLst>
              <a:gd name="adj" fmla="val 8000"/>
            </a:avLst>
          </a:prstGeom>
          <a:solidFill>
            <a:srgbClr val="F8F4F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43600" y="2834640"/>
            <a:ext cx="2286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</a:rPr>
              <a:t>External DB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</a:rPr>
              <a:t>(1C Simulation)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468880" y="1463040"/>
            <a:ext cx="731520" cy="0"/>
          </a:xfrm>
          <a:prstGeom prst="line">
            <a:avLst/>
          </a:prstGeom>
          <a:noFill/>
          <a:ln w="12700">
            <a:solidFill>
              <a:srgbClr val="E9456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0" y="1463040"/>
            <a:ext cx="731520" cy="0"/>
          </a:xfrm>
          <a:prstGeom prst="line">
            <a:avLst/>
          </a:prstGeom>
          <a:noFill/>
          <a:ln w="12700">
            <a:solidFill>
              <a:srgbClr val="E9456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023360" y="1920240"/>
            <a:ext cx="0" cy="731520"/>
          </a:xfrm>
          <a:prstGeom prst="line">
            <a:avLst/>
          </a:prstGeom>
          <a:noFill/>
          <a:ln w="12700">
            <a:solidFill>
              <a:srgbClr val="E9456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80160" y="1920240"/>
            <a:ext cx="0" cy="731520"/>
          </a:xfrm>
          <a:prstGeom prst="line">
            <a:avLst/>
          </a:prstGeom>
          <a:noFill/>
          <a:ln w="12700">
            <a:solidFill>
              <a:srgbClr val="E9456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03520" y="3108960"/>
            <a:ext cx="640080" cy="0"/>
          </a:xfrm>
          <a:prstGeom prst="line">
            <a:avLst/>
          </a:prstGeom>
          <a:noFill/>
          <a:ln w="12700">
            <a:solidFill>
              <a:srgbClr val="E94560"/>
            </a:solidFill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Спецификация REST API: /api/tickets</a:t>
            </a:r>
            <a:endParaRPr lang="en-US" sz="16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" y="822960"/>
          <a:ext cx="8375904" cy="4119372"/>
        </p:xfrm>
        <a:graphic>
          <a:graphicData uri="http://schemas.openxmlformats.org/drawingml/2006/table">
            <a:tbl>
              <a:tblPr/>
              <a:tblGrid>
                <a:gridCol w="1188720"/>
                <a:gridCol w="2011680"/>
                <a:gridCol w="1645920"/>
                <a:gridCol w="3529584"/>
              </a:tblGrid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Метод HTTP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URL-путь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Параметры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Описание операции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GET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/api/tickets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page, status, search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Получить постраничный список обращений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POST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/api/tickets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title, description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Создать новое обращение клиента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GET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/api/tickets/:id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id (uuid)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Получить полную карточку обращения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PUT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/api/tickets/:id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id, title, version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Обновить поля обращения (locking)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GET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/api/tickets/:id/chat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id (uuid)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D2D3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Получить историю сообщений в чате</a:t>
                      </a:r>
                      <a:endParaRPr lang="en-US" sz="11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FE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4F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REST API: Безопасность и Middleware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384048" y="822960"/>
            <a:ext cx="8375904" cy="4119372"/>
          </a:xfrm>
          <a:prstGeom prst="roundRect">
            <a:avLst>
              <a:gd name="adj" fmla="val 2220"/>
            </a:avLst>
          </a:prstGeom>
          <a:solidFill>
            <a:srgbClr val="F8F4F0"/>
          </a:solidFill>
          <a:ln w="12700">
            <a:solidFill>
              <a:srgbClr val="EFEAE3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932688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Аутентификация, RBAC и защита API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8046720" cy="32964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Проверка JWT-токенов (Auth Middleware):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Каждый защищенный роут API проходит проверку в промежуточном слое `verifyToken`. Он считывает заголовок `Authorization: Bearer &lt;token&gt;`, валидирует подпись и извлекает `userId` и `role`, прикрепляя их к объекту запроса `req.user`.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Безопасное разграничение ролей (RBAC):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Роуты `/api/tickets` доступны клиенту для чтения только своих обращений.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Роуты `/api/manager/*` доступны только пользователям с флагом `role='manager'`.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Любые несанкционированные попытки доступа блокируются ошибками 401 Unauthorized или 403 Forbidden.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Интерфейс реального времени: WebSocket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384048" y="822960"/>
            <a:ext cx="8375904" cy="4119372"/>
          </a:xfrm>
          <a:prstGeom prst="roundRect">
            <a:avLst>
              <a:gd name="adj" fmla="val 2220"/>
            </a:avLst>
          </a:prstGeom>
          <a:solidFill>
            <a:srgbClr val="F8F4F0"/>
          </a:solidFill>
          <a:ln w="12700">
            <a:solidFill>
              <a:srgbClr val="EFEAE3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932688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Протокол, подключение и события WebSocket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8046720" cy="32964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WebSocket обеспечивает постоянный двусторонний обмен данными без оверхеда HTTP-заголовков. При открытии карточки тикета клиент подключается к сокет-серверу и подписывается на комнату `ticket:&lt;ticketId&gt;`, отправляя событие `join`.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События WebSocket-сервиса: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`message:send` — отправка нового сообщения в чат тикета.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`message:receive` — получение сообщения от собеседника в реальном времени.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`ticket:status_changed` — push-оповещение клиента о смене статуса обращения менеджером или базой 1С.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Интерфейс хранилища файлов: S3 Presigned URLs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384048" y="822960"/>
            <a:ext cx="8375904" cy="4119372"/>
          </a:xfrm>
          <a:prstGeom prst="roundRect">
            <a:avLst>
              <a:gd name="adj" fmla="val 2220"/>
            </a:avLst>
          </a:prstGeom>
          <a:solidFill>
            <a:srgbClr val="F8F4F0"/>
          </a:solidFill>
          <a:ln w="12700">
            <a:solidFill>
              <a:srgbClr val="EFEAE3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932688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Проблема классического подхода и решение через presigned URLs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8046720" cy="32964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Обычно файлы загружают на бэкенд API-сервера, а тот перекладывает их в хранилище. Это забивает дисковый кэш, перегружает оперативную память Node.js бинарным буфером данных и блокирует поток событий (Event Loop) при загрузке тяжелых логов или баз 1С.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Решение: Временные ссылки S3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1. Фронтенд шлет запрос на `/api/files/presigned-put`.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2. Бэкенд за миллисекунду генерирует криптографически подписанный URL с лимитом жизни 15 минут.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3. Фронтенд шлет бинарный файл напрямую в корзину MinIO. Бэкенд не нагружается.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Интерфейс СУБД: Drizzle ORM + Пул соединений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384048" y="822960"/>
            <a:ext cx="8375904" cy="4119372"/>
          </a:xfrm>
          <a:prstGeom prst="roundRect">
            <a:avLst>
              <a:gd name="adj" fmla="val 2220"/>
            </a:avLst>
          </a:prstGeom>
          <a:solidFill>
            <a:srgbClr val="F8F4F0"/>
          </a:solidFill>
          <a:ln w="12700">
            <a:solidFill>
              <a:srgbClr val="EFEAE3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932688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Пул соединений и преимущества Drizzle ORM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8046720" cy="32964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Создание TCP-соединения с Postgres на каждый запрос — дорогая операция. Бэкенд инициализирует пул соединений `node-postgres` с лимитом от 10 до 20 активных сессий. Это позволяет мгновенно выполнять SQL-запросы за счет повторного использования открытых сокетов.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Преимущества Drizzle ORM: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Полная типобезопасность возвращаемых строк.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Отсутствие оверхеда традиционных тяжелых ORM (код Drizzle компилируется в эффективные нативные сырые SQL-запросы).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Автоматическое управление миграциями и версионированием таблиц.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Интеграция с 1С: Асинхронный Outbox Pattern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384048" y="822960"/>
            <a:ext cx="8375904" cy="4119372"/>
          </a:xfrm>
          <a:prstGeom prst="roundRect">
            <a:avLst>
              <a:gd name="adj" fmla="val 2220"/>
            </a:avLst>
          </a:prstGeom>
          <a:solidFill>
            <a:srgbClr val="F8F4F0"/>
          </a:solidFill>
          <a:ln w="12700">
            <a:solidFill>
              <a:srgbClr val="EFEAE3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932688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Проблема синхронной интеграции и решение Outbox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8046720" cy="32964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Если при нажатии кнопки 'Создать тикет' слать запрос напрямую в 1С по HTTP REST: при сбое связи, перегрузке или плановом перезапуске 1С клиент получит ошибку 500, а тикет будет потерян. Это недопустимо для бизнес-системы.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Асинхронное решение Outbox: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1. Тикет и событие в таблицу `outbox` пишутся в локальный Postgres в рамках одной ACID транзакции.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2. Фоновый воркер Node.js раз в 5с шлет события в симулятор 1С.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3. При успехе ставит статус `processed`. При сбое повторяет попытку с задержкой.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Защита стыков: CORS, Rate Limiting и Валидация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384048" y="822960"/>
            <a:ext cx="8375904" cy="4119372"/>
          </a:xfrm>
          <a:prstGeom prst="roundRect">
            <a:avLst>
              <a:gd name="adj" fmla="val 2220"/>
            </a:avLst>
          </a:prstGeom>
          <a:solidFill>
            <a:srgbClr val="F8F4F0"/>
          </a:solidFill>
          <a:ln w="12700">
            <a:solidFill>
              <a:srgbClr val="EFEAE3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932688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Ограничение запросов и контроль источников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8046720" cy="32964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Rate Limiting (Защита от DOS):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Чтобы злоумышленники не завалили базу запросами и не перегрузили СУБД, на бэкенде включен `express-rate-limit`. Ограничение: максимум 150 запросов в 1 минуту с одного IP-адреса. Для роутов отправки SMS-кодов лимит еще жестче: 3 запроса в минуту.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Cross-Origin Resource Sharing (CORS):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Бэкенд принимает запросы только со строго разрешенного списка доменов (White List), прописанных в переменной `CORS_ALLOWED_ORIGINS`. Попытки отправки AJAX-запросов со сторонних вредоносных фишинговых сайтов блокируются на уровне браузера.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Гибкость и заменяемость интерфейсов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384048" y="822960"/>
            <a:ext cx="8375904" cy="4119372"/>
          </a:xfrm>
          <a:prstGeom prst="roundRect">
            <a:avLst>
              <a:gd name="adj" fmla="val 2220"/>
            </a:avLst>
          </a:prstGeom>
          <a:solidFill>
            <a:srgbClr val="F8F4F0"/>
          </a:solidFill>
          <a:ln w="12700">
            <a:solidFill>
              <a:srgbClr val="EFEAE3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932688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Замена S3-провайдера и масштабирование бэкенда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8046720" cy="32964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Замена S3-провайдера за 1 минуту: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Поскольку загрузка файлов спроектирована по стандартному протоколу AWS S3 API, мы можем заменить локальный контейнер MinIO на коммерческое Яндекс.Облако (Yandex Object Storage) без изменения единой строчки кода бэкенда — просто изменив `S3_ENDPOINT` в `.env`.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Масштабирование бэкенда: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Так как бэкенд спроектирован по принципу 'Stateless' (состояние сессии не хранится в памяти Node.js, а пишется в СУБД Postgres), мы можем запустить 5 параллельных контейнеров Express за балансировщиком Nginx для распределения нагрузки.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Отказоустойчивость интерфейсов и сбои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384048" y="822960"/>
            <a:ext cx="8375904" cy="4119372"/>
          </a:xfrm>
          <a:prstGeom prst="roundRect">
            <a:avLst>
              <a:gd name="adj" fmla="val 2220"/>
            </a:avLst>
          </a:prstGeom>
          <a:solidFill>
            <a:srgbClr val="F8F4F0"/>
          </a:solidFill>
          <a:ln w="12700">
            <a:solidFill>
              <a:srgbClr val="EFEAE3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932688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Сбои сети и конфликты API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8046720" cy="32964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Сбои сетевого подключения (Offline-First WS):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При отсутствии интернета во время отправки сообщений по WebSocket, чат-клиент временно сохраняет сообщение в LocalStorage и включает статус 'Ожидание сети'. После реконнекта сокета сообщения отправляются автоматически с сохранением исходного порядка.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Конфликты API (Optimistic Locking):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Если клиент и менеджер редактируют одно обращение через REST-интерфейс одновременно, бэкенд сверяет поле 'version'. Первая транзакция успешно фиксируется, а второй возвращается код ошибки 409 Conflict с предложением обновить форму.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Выводы по теме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475488" y="868680"/>
            <a:ext cx="8193024" cy="40279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18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Проектирование интерфейсов подсистем является центральным ядром архитектуры «Личного кабинета». Благодаря четкому разделению на 6 подсистем и стандартизации их контрактов (REST JSON, WebSocket events, S3 API), нам удалось построить отказоустойчивую, безопасную и слабосвязанную систему. Асинхронная интеграция с 1С через Outbox гарантирует сохранность заявок клиентов даже при падении или сбоях учетной базы предприятия.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P3 — Интерфейс подсистем</dc:title>
  <dc:subject>PptxGenJS Presentation</dc:subject>
  <dc:creator>Ломазина Александра, гр 22307</dc:creator>
  <cp:lastModifiedBy>Ломазина Александра, гр 22307</cp:lastModifiedBy>
  <cp:revision>1</cp:revision>
  <dcterms:created xsi:type="dcterms:W3CDTF">2026-06-24T12:21:11Z</dcterms:created>
  <dcterms:modified xsi:type="dcterms:W3CDTF">2026-06-24T12:21:11Z</dcterms:modified>
</cp:coreProperties>
</file>