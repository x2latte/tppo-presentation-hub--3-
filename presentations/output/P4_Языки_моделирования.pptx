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3657600" cy="3657600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474720"/>
            <a:ext cx="2011680" cy="2011680"/>
          </a:xfrm>
          <a:prstGeom prst="ellipse">
            <a:avLst/>
          </a:prstGeom>
          <a:solidFill>
            <a:srgbClr val="E94560">
              <a:alpha val="40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49808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Тема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Языки моделирования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 Languages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3649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4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Проект ТППО: «Личный кабинет для клиентов компании»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62272"/>
            <a:ext cx="8229600" cy="6812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B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Выполнила: Ломазина Александра, гр 22307   |   Руководитель: Корзун Дмитрий Жоржевич   |   ИМИТ ПетрГУ,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Постановка задачи моделирования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Постановка практической задачи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Необходимо формализовать требования и архитектуру до начала активной разработки.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Конкретная задача моделирования: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Выбрать и применить подходящие языки и нотации моделирования (прежде всего UML) для создания трассируемых моделей от требований до кода в проекте TPPO.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такое язык моделирования?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Сущность моделирования и цели абстрагирования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Язык моделирования — это искусственная графическая или текстовая система обозначений, предназначенная для описания структуры, поведения и процессов сложных программных и организационных систем.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Основным промышленным стандартом в ИТ является UML (Unified Modeling Language).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Зачем абстрагировать систему?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Абстрагирование от низкоуровневого JS/TS кода.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Создание единой ментальной карты (карта архитектуры) проекта.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Ускорение адаптации новых разработчиков в команду.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Моделирование в курсе ТППО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Цели применения в проекте и преимущества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Цели применения в проекте: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 процессе проектирования «Личного кабинета» для клиентов компании ООО «Неосистемы Северо-Запад» моделирование использовалось для формализации требований перед кодингом. Это позволило избежать архитектурных тупиков при сопряжении баз данных (PostgreSQL и 1С) и файлов MinIO.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дает проектирование до кода?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95% ошибок проектирования выявляются 'на бумаге'.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Стоимость исправления модели в 100 раз дешевле переписывания кода.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Четко зафиксированные JSON-контракты интеграции.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Матрица UML диаграмм в проекте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22960"/>
          <a:ext cx="8375904" cy="4119372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803904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Тип диаграммы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Аспект моделирования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Что описано в client-portal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Диаграмма прецедентов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Функциональные требования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Роли Клиента и Менеджера, 10 ключевых Use Cases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Диаграмма компонентов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Статическая архитектура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Стыковка Backend, React Frontend, Postgres, S3 MinIO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Диаграмма классов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Статическая структура кода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Сущности БД: User, Ticket, Message, File и связи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Диаграмма последовательности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Динамическое поведение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Сценарий синхронизации тикета с СУБД 1С во времени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UML Use Case Diagram: Моделирование требований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Характеристики Use Case моделей и основные сценарии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Диаграмма прецедентов фиксирует требования со стороны внешнего мира. Она определяет, КТО (акторы) и ЧТО (прецеденты) делает в системе.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Наши акторы: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Представитель клиента (Клиент)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Специалист поддержки (Менеджер)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Утверждающий (client_approver)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Диспетчер (dispatcher)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Администратор (admin)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Основные сценарии в фокусе: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Двухэтапная аутентификация (пароль + SMS OTP).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Создание тикета техподдержки с файлами ошибок.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Мгновенное общение через веб-чат WebSockets.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Синхронизация карточек обращений с репликой 1С.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UML Component Diagram: Модульная архитектура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Назначение диаграммы компонентов и список компонентов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Диаграмма показывает разделение кодовой базы на физические сборочные единицы (компоненты) и их интерфейсные стыки.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Предоставляемые интерфейсы (кружки 'lollipop') скрывают детали СУБД, а требуемые интерфейсы (полукружки) заставляют фронтенд соблюдать REST-контракты.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Компоненты client-portal: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React Frontend — браузерный SPA-бандл.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Node.js Express Backend — API сервер.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PostgreSQL Database — внутреннее хранилище.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MinIO S3 Storage — файловый архив.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1C Simulator — имитация ERP учетной системы.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UML Class Diagram (с отображением структуры данных)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1645920"/>
          </a:xfrm>
          <a:prstGeom prst="roundRect">
            <a:avLst>
              <a:gd name="adj" fmla="val 4444"/>
            </a:avLst>
          </a:prstGeom>
          <a:solidFill>
            <a:srgbClr val="F8F4F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828800" cy="32004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(Пользователь)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id: UUID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D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phone: string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D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name: string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D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role: enum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login()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updateProfile()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926080" y="109728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8F4F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097280"/>
            <a:ext cx="2011680" cy="32004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Ticket (Обращение)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1463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id: UUID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D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title: string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D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status: string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D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version: integer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01752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create()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updateStatus()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577840" y="109728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8F4F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097280"/>
            <a:ext cx="2011680" cy="32004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Message (Сообщение)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id: UUID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D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text: string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D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sent_at: timestamp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D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sync_status: enum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66928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sendMessage()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0" y="109728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F8F4F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097280"/>
            <a:ext cx="1645920" cy="32004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File (Файл)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63840" y="1463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id: UUID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D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mime_type: string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D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storage_path: string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863840" y="2331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requestUpload()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confirm()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0" y="1920240"/>
            <a:ext cx="64008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331720" y="16916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A"/>
                </a:solidFill>
              </a:rPr>
              <a:t>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97480" y="16916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A"/>
                </a:solidFill>
              </a:rPr>
              <a:t>0..*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86000" y="1965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94560"/>
                </a:solidFill>
              </a:rPr>
              <a:t>создает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937760" y="1920240"/>
            <a:ext cx="64008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983480" y="16916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A"/>
                </a:solidFill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16916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A"/>
                </a:solidFill>
              </a:rPr>
              <a:t>0..*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0" y="1965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94560"/>
                </a:solidFill>
              </a:rPr>
              <a:t>содержит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589520" y="1920240"/>
            <a:ext cx="18288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7607808" y="1691640"/>
            <a:ext cx="91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A"/>
                </a:solidFill>
              </a:rPr>
              <a:t>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699248" y="1691640"/>
            <a:ext cx="91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A"/>
                </a:solidFill>
              </a:rPr>
              <a:t>0..*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543800" y="19659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94560"/>
                </a:solidFill>
              </a:rPr>
              <a:t>имеет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UML Sequence Diagram: Динамика синхронизации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Поток событий (Sequence) и его важность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Диаграмма последовательности показывает жизненный цикл во времени: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Клиент нажимает кнопку 'Отправить'.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Фронтенд отправляет POST-запрос на Бэкенд.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Бэкенд пишет тикет в PostgreSQL.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Бэкенд пишет транзакцию в Outbox.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Фоновый воркер асинхронно передает данные в 1С.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Почему важен этот сценарий?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Визуализирует временные задержки и асинхронные границы.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Четко разделяет синхронный клиентский шаг и асинхронный фоновый шаг синхронизации с 1С.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Позволяет легко выявить потенциальные места зависаний (timeouts) и сетевых сбоев.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ERD: Реляционная схема базы данных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ER-моделирование данных и ключевые сущности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 отличие от абстрактной диаграммы классов UML, ERD описывает физическую структуру таблиц СУБД PostgreSQL.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Здесь четко фиксируются первичные ключи (Primary Keys, UUID), внешние ключи (Foreign Keys) и индексы для оптимизации запросов поиска.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Ключевые сущности (Таблицы БД):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users — данные пользователей (телефон, имя, роль).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tickets — обращения клиентов (id, статус, version).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messages — сообщения чата (id, текст, timestamp).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attachments — файлы из S3 (id, mime, path).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outbox — транзакционная очередь отправки в 1С.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BPMN: Жизненный цикл обращения клиента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использовать BPMN и событийные статусы заявки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UML не очень хорошо подходит для бизнес-процессов. Нотация BPMN 2.0 использовалась нами для описания сквозного workflow прохождения заявки.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Это позволяет согласовать регламенты работы службы техподдержки с алгоритмами переключения статусов в базе данных.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Событийные статусы заявки: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Создано (New) — клиент отправил заявку.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В работе (Active) — менеджер назначил специалиста.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Ожидание оценки — специалист оценивает часы.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Выполнено (Closed) — работа завершена.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Переоткрыто (Reopened) — проблема клиента осталась.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Diagrams as Code: PlantUML &amp; Mermaid.js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4023360" cy="4119372"/>
          </a:xfrm>
          <a:prstGeom prst="roundRect">
            <a:avLst>
              <a:gd name="adj" fmla="val 2273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Сущность подхода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369417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Вместо рисования мышкой в тяжелых редакторах, мы описываем архитектуру текстом (кодом). Специальные движки PlantUML или Mermaid автоматически генерируют красивую векторную SVG/PNG диаграмму.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Код диаграмм хранится прямо в Git-репозитории проекта.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81728" y="822960"/>
            <a:ext cx="4078224" cy="4119372"/>
          </a:xfrm>
          <a:prstGeom prst="roundRect">
            <a:avLst>
              <a:gd name="adj" fmla="val 1794"/>
            </a:avLst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18888" y="905256"/>
            <a:ext cx="3803904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@startuml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id: UUID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phone: string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Ticket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id: UUID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title: string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Message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id: UUID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text: string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"1" *-- "0..*" Ticket : создаёт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"1" *-- "0..*" Message : содержит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@endum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Сравнение инструментов моделирования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22960"/>
          <a:ext cx="8375904" cy="4119372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3072384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Критерий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Визуальные (Draw.io, Miro)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Кодовые (PlantUML, Mermaid)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Скорость старта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Быстро (drag &amp; drop)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Требуется изучение синтаксиса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Командная работа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Сложно мержить XML-файлы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Просто (стандартные текстовые коммиты)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Сопровождение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Трудно перерисовывать при росте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Мгновенно (автоматическая перекомпоновка)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Интеграция в CI/CD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Невозможна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Простая (автогенерация схем в пайплайне)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Версионирование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Бинарные или тяжелые XML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Легковесный Markdown/PUML код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Трассировка моделей на физический код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4119372"/>
          </a:xfrm>
          <a:prstGeom prst="roundRect">
            <a:avLst>
              <a:gd name="adj" fmla="val 2220"/>
            </a:avLst>
          </a:prstGeom>
          <a:solidFill>
            <a:srgbClr val="F8F4F0"/>
          </a:solidFill>
          <a:ln w="12700">
            <a:solidFill>
              <a:srgbClr val="EFEAE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Class → Drizzle ORM Schema и UML Component → Docker-контейнеры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3296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UML Class → Drizzle ORM Schema: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Связи 1-ко-многим между сущностями `User`, `Ticket` и `Message` на диаграмме классов UML преобразуются в реальные связи `foreign key` в файле описания схемы БД `/db/schema.ts`.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Каждому атрибуту класса сопоставляется строгий тип поля (UUID, text, integer, timestamp).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UML Component → Docker-контейнеры: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Каждый отдельный прямоугольник-компонент на нашей UML Component Diagram запускается как изолированный процесс в своем собственном контейнере Docker. Сборка и сетевые мосты (bridges) между ними описываются в конфигурационном манифесте `docker-compose.yml`.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Выводы по теме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5488" y="868680"/>
            <a:ext cx="8193024" cy="40279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2D2D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Использование стандартизованных языков моделирования (UML, ERD, BPMN) совместно с концепцией Diagrams as Code позволило спроектировать Личный кабинет структурированным, масштабируемым и поддерживаемым. Модели предметной области послужили прямым техническим заданием для создания реляционной схемы в PostgreSQL, диаграмма компонентов определила чистую топологию контейнеров Docker, а BPMN-схема гарантировала корректность бизнес-логики.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P4 — Языки моделирования</dc:title>
  <dc:subject>PptxGenJS Presentation</dc:subject>
  <dc:creator>Ломазина Александра, гр 22307</dc:creator>
  <cp:lastModifiedBy>Ломазина Александра, гр 22307</cp:lastModifiedBy>
  <cp:revision>1</cp:revision>
  <dcterms:created xsi:type="dcterms:W3CDTF">2026-06-24T12:21:11Z</dcterms:created>
  <dcterms:modified xsi:type="dcterms:W3CDTF">2026-06-24T12:21:11Z</dcterms:modified>
</cp:coreProperties>
</file>