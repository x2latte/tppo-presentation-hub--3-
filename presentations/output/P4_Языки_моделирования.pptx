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217920" y="-914400"/>
            <a:ext cx="3657600" cy="3657600"/>
          </a:xfrm>
          <a:prstGeom prst="ellipse">
            <a:avLst/>
          </a:prstGeom>
          <a:solidFill>
            <a:srgbClr val="F5A623">
              <a:alpha val="30000"/>
            </a:srgbClr>
          </a:solidFill>
          <a:ln w="12700">
            <a:solidFill>
              <a:srgbClr val="F5A623">
                <a:alpha val="3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548640" y="3474720"/>
            <a:ext cx="2011680" cy="2011680"/>
          </a:xfrm>
          <a:prstGeom prst="ellipse">
            <a:avLst/>
          </a:prstGeom>
          <a:solidFill>
            <a:srgbClr val="E94560">
              <a:alpha val="40000"/>
            </a:srgbClr>
          </a:solidFill>
          <a:ln w="12700">
            <a:solidFill>
              <a:srgbClr val="E94560">
                <a:alpha val="4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749808"/>
            <a:ext cx="2743200" cy="365760"/>
          </a:xfrm>
          <a:prstGeom prst="roundRect">
            <a:avLst>
              <a:gd name="adj" fmla="val 20000"/>
            </a:avLst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74980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Тема 4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261872"/>
            <a:ext cx="804672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Языки моделирования</a:t>
            </a:r>
            <a:endParaRPr lang="en-US" sz="2600" dirty="0"/>
          </a:p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Modeling Languages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3364992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8F4F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Проект ТППО: «Личный кабинет для клиентов компании»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462272"/>
            <a:ext cx="9144000" cy="681228"/>
          </a:xfrm>
          <a:prstGeom prst="rect">
            <a:avLst/>
          </a:prstGeom>
          <a:solidFill>
            <a:srgbClr val="0D0D1A"/>
          </a:solidFill>
          <a:ln w="12700">
            <a:solidFill>
              <a:srgbClr val="0D0D1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4462272"/>
            <a:ext cx="8229600" cy="6812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B8B0C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Выполнила: Ломазина Александра, гр 22307   |   Руководитель: Корзун Дмитрий Жоржевич   |   ИМИТ ПетрГУ,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164592"/>
            <a:ext cx="8375904" cy="5486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Постановка задачи моделирования</a:t>
            </a:r>
            <a:endParaRPr lang="en-US" sz="1600" dirty="0"/>
          </a:p>
        </p:txBody>
      </p:sp>
      <p:sp>
        <p:nvSpPr>
          <p:cNvPr id="3" name="Shape 1"/>
          <p:cNvSpPr/>
          <p:nvPr/>
        </p:nvSpPr>
        <p:spPr>
          <a:xfrm>
            <a:off x="384048" y="822960"/>
            <a:ext cx="8375904" cy="4119372"/>
          </a:xfrm>
          <a:prstGeom prst="roundRect">
            <a:avLst>
              <a:gd name="adj" fmla="val 2220"/>
            </a:avLst>
          </a:prstGeom>
          <a:solidFill>
            <a:srgbClr val="F8F4F0"/>
          </a:solidFill>
          <a:ln w="12700">
            <a:solidFill>
              <a:srgbClr val="EFEAE3"/>
            </a:solidFill>
            <a:prstDash val="solid"/>
          </a:ln>
          <a:effectLst>
            <a:outerShdw sx="100000" sy="100000" kx="0" ky="0" algn="bl" rotWithShape="0" blurRad="152400" dist="38100" dir="2700000">
              <a:srgbClr val="000000">
                <a:alpha val="12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548640" y="932688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Постановка практической задачи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1417320"/>
            <a:ext cx="8046720" cy="32964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Необходимо формализовать требования и архитектуру до начала активной разработки.</a:t>
            </a:r>
            <a:endParaRPr lang="en-US" sz="1600" dirty="0"/>
          </a:p>
          <a:p>
            <a:pPr algn="l" indent="0" marL="0">
              <a:buNone/>
            </a:pP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Конкретная задача моделирования: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Выбрать и применить подходящие языки и нотации моделирования (прежде всего UML) для создания трассируемых моделей от требований до кода в проекте TPPO.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164592"/>
            <a:ext cx="8375904" cy="5486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Что такое язык моделирования?</a:t>
            </a:r>
            <a:endParaRPr lang="en-US" sz="1600" dirty="0"/>
          </a:p>
        </p:txBody>
      </p:sp>
      <p:sp>
        <p:nvSpPr>
          <p:cNvPr id="3" name="Shape 1"/>
          <p:cNvSpPr/>
          <p:nvPr/>
        </p:nvSpPr>
        <p:spPr>
          <a:xfrm>
            <a:off x="384048" y="822960"/>
            <a:ext cx="8375904" cy="4119372"/>
          </a:xfrm>
          <a:prstGeom prst="roundRect">
            <a:avLst>
              <a:gd name="adj" fmla="val 2220"/>
            </a:avLst>
          </a:prstGeom>
          <a:solidFill>
            <a:srgbClr val="F8F4F0"/>
          </a:solidFill>
          <a:ln w="12700">
            <a:solidFill>
              <a:srgbClr val="EFEAE3"/>
            </a:solidFill>
            <a:prstDash val="solid"/>
          </a:ln>
          <a:effectLst>
            <a:outerShdw sx="100000" sy="100000" kx="0" ky="0" algn="bl" rotWithShape="0" blurRad="152400" dist="38100" dir="2700000">
              <a:srgbClr val="000000">
                <a:alpha val="12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548640" y="932688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Сущность моделирования и цели абстрагирования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1417320"/>
            <a:ext cx="8046720" cy="32964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Язык моделирования — это искусственная графическая или текстовая система обозначений, предназначенная для описания структуры, поведения и процессов сложных программных и организационных систем.</a:t>
            </a:r>
            <a:endParaRPr lang="en-US" sz="1600" dirty="0"/>
          </a:p>
          <a:p>
            <a:pPr algn="l" indent="0" marL="0">
              <a:buNone/>
            </a:pP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Основным промышленным стандартом в ИТ является UML (Unified Modeling Language).</a:t>
            </a:r>
            <a:endParaRPr lang="en-US" sz="1600" dirty="0"/>
          </a:p>
          <a:p>
            <a:pPr algn="l" indent="0" marL="0">
              <a:buNone/>
            </a:pP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Зачем абстрагировать систему?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Абстрагирование от низкоуровневого JS/TS кода.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Создание единой ментальной карты (карта архитектуры) проекта.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Ускорение адаптации новых разработчиков в команду.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164592"/>
            <a:ext cx="8375904" cy="5486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Моделирование в курсе ТППО</a:t>
            </a:r>
            <a:endParaRPr lang="en-US" sz="1600" dirty="0"/>
          </a:p>
        </p:txBody>
      </p:sp>
      <p:sp>
        <p:nvSpPr>
          <p:cNvPr id="3" name="Shape 1"/>
          <p:cNvSpPr/>
          <p:nvPr/>
        </p:nvSpPr>
        <p:spPr>
          <a:xfrm>
            <a:off x="384048" y="822960"/>
            <a:ext cx="8375904" cy="4119372"/>
          </a:xfrm>
          <a:prstGeom prst="roundRect">
            <a:avLst>
              <a:gd name="adj" fmla="val 2220"/>
            </a:avLst>
          </a:prstGeom>
          <a:solidFill>
            <a:srgbClr val="F8F4F0"/>
          </a:solidFill>
          <a:ln w="12700">
            <a:solidFill>
              <a:srgbClr val="EFEAE3"/>
            </a:solidFill>
            <a:prstDash val="solid"/>
          </a:ln>
          <a:effectLst>
            <a:outerShdw sx="100000" sy="100000" kx="0" ky="0" algn="bl" rotWithShape="0" blurRad="152400" dist="38100" dir="2700000">
              <a:srgbClr val="000000">
                <a:alpha val="12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548640" y="932688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Цели применения в проекте и преимущества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1417320"/>
            <a:ext cx="8046720" cy="32964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Цели применения в проекте: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В процессе проектирования «Личного кабинета» для клиентов компании ООО «Неосистемы Северо-Запад» моделирование использовалось для формализации требований перед кодингом. Это позволило избежать архитектурных тупиков при сопряжении баз данных (PostgreSQL и 1С) и файлов MinIO.</a:t>
            </a:r>
            <a:endParaRPr lang="en-US" sz="1600" dirty="0"/>
          </a:p>
          <a:p>
            <a:pPr algn="l" indent="0" marL="0">
              <a:buNone/>
            </a:pP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Что дает проектирование до кода?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95% ошибок проектирования выявляются 'на бумаге'.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Стоимость исправления модели в 100 раз дешевле переписывания кода.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Четко зафиксированные JSON-контракты интеграции.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164592"/>
            <a:ext cx="8375904" cy="5486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Матрица UML диаграмм в проекте</a:t>
            </a:r>
            <a:endParaRPr lang="en-US" sz="16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84048" y="822960"/>
          <a:ext cx="8375904" cy="4119372"/>
        </p:xfrm>
        <a:graphic>
          <a:graphicData uri="http://schemas.openxmlformats.org/drawingml/2006/table">
            <a:tbl>
              <a:tblPr/>
              <a:tblGrid>
                <a:gridCol w="2286000"/>
                <a:gridCol w="2286000"/>
                <a:gridCol w="3803904"/>
              </a:tblGrid>
              <a:tr h="6400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Тип диаграммы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Аспект моделирования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Что описано в client-portal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Диаграмма прецедентов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4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Функциональные требования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4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Роли Клиента и Менеджера, 10 ключевых Use Cases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4F0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Диаграмма компонентов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Статическая архитектура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Стыковка Backend, React Frontend, Postgres, S3 MinIO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Диаграмма классов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4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Статическая структура кода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4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Сущности БД: User, Ticket, Message, File и связи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4F0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Диаграмма последовательности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Динамическое поведение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Сценарий синхронизации тикета с СУБД 1С во времени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164592"/>
            <a:ext cx="8375904" cy="5486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UML Use Case Diagram: Моделирование требований</a:t>
            </a:r>
            <a:endParaRPr lang="en-US" sz="1600" dirty="0"/>
          </a:p>
        </p:txBody>
      </p:sp>
      <p:sp>
        <p:nvSpPr>
          <p:cNvPr id="3" name="Shape 1"/>
          <p:cNvSpPr/>
          <p:nvPr/>
        </p:nvSpPr>
        <p:spPr>
          <a:xfrm>
            <a:off x="384048" y="822960"/>
            <a:ext cx="8375904" cy="4119372"/>
          </a:xfrm>
          <a:prstGeom prst="roundRect">
            <a:avLst>
              <a:gd name="adj" fmla="val 2220"/>
            </a:avLst>
          </a:prstGeom>
          <a:solidFill>
            <a:srgbClr val="F8F4F0"/>
          </a:solidFill>
          <a:ln w="12700">
            <a:solidFill>
              <a:srgbClr val="EFEAE3"/>
            </a:solidFill>
            <a:prstDash val="solid"/>
          </a:ln>
          <a:effectLst>
            <a:outerShdw sx="100000" sy="100000" kx="0" ky="0" algn="bl" rotWithShape="0" blurRad="152400" dist="38100" dir="2700000">
              <a:srgbClr val="000000">
                <a:alpha val="12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548640" y="932688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Характеристики Use Case моделей и основные сценарии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1417320"/>
            <a:ext cx="8046720" cy="32964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Диаграмма прецедентов фиксирует требования со стороны внешнего мира. Она определяет, КТО (акторы) и ЧТО (прецеденты) делает в системе.</a:t>
            </a:r>
            <a:endParaRPr lang="en-US" sz="1600" dirty="0"/>
          </a:p>
          <a:p>
            <a:pPr algn="l" indent="0" marL="0">
              <a:buNone/>
            </a:pP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Наши акторы: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Представитель клиента (Клиент)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Специалист поддержки (Менеджер)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Утверждающий (client_approver)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Диспетчер (dispatcher)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Администратор (admin)</a:t>
            </a:r>
            <a:endParaRPr lang="en-US" sz="1600" dirty="0"/>
          </a:p>
          <a:p>
            <a:pPr algn="l" indent="0" marL="0">
              <a:buNone/>
            </a:pP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Основные сценарии в фокусе: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Двухэтапная аутентификация (пароль + SMS OTP).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Создание тикета техподдержки с файлами ошибок.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Мгновенное общение через веб-чат WebSockets.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Синхронизация карточек обращений с репликой 1С.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164592"/>
            <a:ext cx="8375904" cy="5486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UML Component Diagram: Модульная архитектура</a:t>
            </a:r>
            <a:endParaRPr lang="en-US" sz="1600" dirty="0"/>
          </a:p>
        </p:txBody>
      </p:sp>
      <p:sp>
        <p:nvSpPr>
          <p:cNvPr id="3" name="Shape 1"/>
          <p:cNvSpPr/>
          <p:nvPr/>
        </p:nvSpPr>
        <p:spPr>
          <a:xfrm>
            <a:off x="384048" y="822960"/>
            <a:ext cx="8375904" cy="4119372"/>
          </a:xfrm>
          <a:prstGeom prst="roundRect">
            <a:avLst>
              <a:gd name="adj" fmla="val 2220"/>
            </a:avLst>
          </a:prstGeom>
          <a:solidFill>
            <a:srgbClr val="F8F4F0"/>
          </a:solidFill>
          <a:ln w="12700">
            <a:solidFill>
              <a:srgbClr val="EFEAE3"/>
            </a:solidFill>
            <a:prstDash val="solid"/>
          </a:ln>
          <a:effectLst>
            <a:outerShdw sx="100000" sy="100000" kx="0" ky="0" algn="bl" rotWithShape="0" blurRad="152400" dist="38100" dir="2700000">
              <a:srgbClr val="000000">
                <a:alpha val="12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548640" y="932688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Назначение диаграммы компонентов и список компонентов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1417320"/>
            <a:ext cx="8046720" cy="32964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Диаграмма показывает разделение кодовой базы на физические сборочные единицы (компоненты) и их интерфейсные стыки.</a:t>
            </a:r>
            <a:endParaRPr lang="en-US" sz="1600" dirty="0"/>
          </a:p>
          <a:p>
            <a:pPr algn="l" indent="0" marL="0">
              <a:buNone/>
            </a:pP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Предоставляемые интерфейсы (кружки 'lollipop') скрывают детали СУБД, а требуемые интерфейсы (полукружки) заставляют фронтенд соблюдать REST-контракты.</a:t>
            </a:r>
            <a:endParaRPr lang="en-US" sz="1600" dirty="0"/>
          </a:p>
          <a:p>
            <a:pPr algn="l" indent="0" marL="0">
              <a:buNone/>
            </a:pP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Компоненты client-portal: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React Frontend — браузерный SPA-бандл.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Node.js Express Backend — API сервер.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PostgreSQL Database — внутреннее хранилище.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MinIO S3 Storage — файловый архив.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1C Simulator — имитация ERP учетной системы.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164592"/>
            <a:ext cx="8375904" cy="5486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UML Class Diagram (с отображением структуры данных)</a:t>
            </a:r>
            <a:endParaRPr lang="en-US" sz="1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1828800" cy="1645920"/>
          </a:xfrm>
          <a:prstGeom prst="roundRect">
            <a:avLst>
              <a:gd name="adj" fmla="val 4444"/>
            </a:avLst>
          </a:prstGeom>
          <a:solidFill>
            <a:srgbClr val="F8F4F0"/>
          </a:solidFill>
          <a:ln w="12700">
            <a:solidFill>
              <a:srgbClr val="1A1A2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97280"/>
            <a:ext cx="1828800" cy="320040"/>
          </a:xfrm>
          <a:prstGeom prst="rect">
            <a:avLst/>
          </a:prstGeom>
          <a:solidFill>
            <a:srgbClr val="1A1A2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User (Пользователь)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1463040"/>
            <a:ext cx="16459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2D2D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 id: UUID</a:t>
            </a:r>
            <a:endParaRPr lang="en-US" sz="850" dirty="0"/>
          </a:p>
          <a:p>
            <a:pPr algn="l" indent="0" marL="0">
              <a:buNone/>
            </a:pPr>
            <a:r>
              <a:rPr lang="en-US" sz="850" dirty="0">
                <a:solidFill>
                  <a:srgbClr val="2D2D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 phone: string</a:t>
            </a:r>
            <a:endParaRPr lang="en-US" sz="850" dirty="0"/>
          </a:p>
          <a:p>
            <a:pPr algn="l" indent="0" marL="0">
              <a:buNone/>
            </a:pPr>
            <a:r>
              <a:rPr lang="en-US" sz="850" dirty="0">
                <a:solidFill>
                  <a:srgbClr val="2D2D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 name: string</a:t>
            </a:r>
            <a:endParaRPr lang="en-US" sz="850" dirty="0"/>
          </a:p>
          <a:p>
            <a:pPr algn="l" indent="0" marL="0">
              <a:buNone/>
            </a:pPr>
            <a:r>
              <a:rPr lang="en-US" sz="850" dirty="0">
                <a:solidFill>
                  <a:srgbClr val="2D2D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 role: enum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548640" y="233172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E945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 login()</a:t>
            </a:r>
            <a:endParaRPr lang="en-US" sz="850" dirty="0"/>
          </a:p>
          <a:p>
            <a:pPr algn="l" indent="0" marL="0">
              <a:buNone/>
            </a:pPr>
            <a:r>
              <a:rPr lang="en-US" sz="850" dirty="0">
                <a:solidFill>
                  <a:srgbClr val="E945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 updateProfile()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2926080" y="1097280"/>
            <a:ext cx="2011680" cy="1645920"/>
          </a:xfrm>
          <a:prstGeom prst="roundRect">
            <a:avLst>
              <a:gd name="adj" fmla="val 4444"/>
            </a:avLst>
          </a:prstGeom>
          <a:solidFill>
            <a:srgbClr val="F8F4F0"/>
          </a:solidFill>
          <a:ln w="12700">
            <a:solidFill>
              <a:srgbClr val="1A1A2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926080" y="1097280"/>
            <a:ext cx="2011680" cy="320040"/>
          </a:xfrm>
          <a:prstGeom prst="rect">
            <a:avLst/>
          </a:prstGeom>
          <a:solidFill>
            <a:srgbClr val="1A1A2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Ticket (Обращение)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3017520" y="1463040"/>
            <a:ext cx="18288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2D2D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 id: UUID</a:t>
            </a:r>
            <a:endParaRPr lang="en-US" sz="850" dirty="0"/>
          </a:p>
          <a:p>
            <a:pPr algn="l" indent="0" marL="0">
              <a:buNone/>
            </a:pPr>
            <a:r>
              <a:rPr lang="en-US" sz="850" dirty="0">
                <a:solidFill>
                  <a:srgbClr val="2D2D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 title: string</a:t>
            </a:r>
            <a:endParaRPr lang="en-US" sz="850" dirty="0"/>
          </a:p>
          <a:p>
            <a:pPr algn="l" indent="0" marL="0">
              <a:buNone/>
            </a:pPr>
            <a:r>
              <a:rPr lang="en-US" sz="850" dirty="0">
                <a:solidFill>
                  <a:srgbClr val="2D2D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 status: string</a:t>
            </a:r>
            <a:endParaRPr lang="en-US" sz="850" dirty="0"/>
          </a:p>
          <a:p>
            <a:pPr algn="l" indent="0" marL="0">
              <a:buNone/>
            </a:pPr>
            <a:r>
              <a:rPr lang="en-US" sz="850" dirty="0">
                <a:solidFill>
                  <a:srgbClr val="2D2D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 version: integer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3017520" y="233172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E945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 create()</a:t>
            </a:r>
            <a:endParaRPr lang="en-US" sz="850" dirty="0"/>
          </a:p>
          <a:p>
            <a:pPr algn="l" indent="0" marL="0">
              <a:buNone/>
            </a:pPr>
            <a:r>
              <a:rPr lang="en-US" sz="850" dirty="0">
                <a:solidFill>
                  <a:srgbClr val="E945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 updateStatus()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5577840" y="1097280"/>
            <a:ext cx="2011680" cy="1645920"/>
          </a:xfrm>
          <a:prstGeom prst="roundRect">
            <a:avLst>
              <a:gd name="adj" fmla="val 4444"/>
            </a:avLst>
          </a:prstGeom>
          <a:solidFill>
            <a:srgbClr val="F8F4F0"/>
          </a:solidFill>
          <a:ln w="12700">
            <a:solidFill>
              <a:srgbClr val="1A1A2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577840" y="1097280"/>
            <a:ext cx="2011680" cy="320040"/>
          </a:xfrm>
          <a:prstGeom prst="rect">
            <a:avLst/>
          </a:prstGeom>
          <a:solidFill>
            <a:srgbClr val="1A1A2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Message (Сообщение)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669280" y="1463040"/>
            <a:ext cx="18288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2D2D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 id: UUID</a:t>
            </a:r>
            <a:endParaRPr lang="en-US" sz="850" dirty="0"/>
          </a:p>
          <a:p>
            <a:pPr algn="l" indent="0" marL="0">
              <a:buNone/>
            </a:pPr>
            <a:r>
              <a:rPr lang="en-US" sz="850" dirty="0">
                <a:solidFill>
                  <a:srgbClr val="2D2D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 text: string</a:t>
            </a:r>
            <a:endParaRPr lang="en-US" sz="850" dirty="0"/>
          </a:p>
          <a:p>
            <a:pPr algn="l" indent="0" marL="0">
              <a:buNone/>
            </a:pPr>
            <a:r>
              <a:rPr lang="en-US" sz="850" dirty="0">
                <a:solidFill>
                  <a:srgbClr val="2D2D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 sent_at: timestamp</a:t>
            </a:r>
            <a:endParaRPr lang="en-US" sz="850" dirty="0"/>
          </a:p>
          <a:p>
            <a:pPr algn="l" indent="0" marL="0">
              <a:buNone/>
            </a:pPr>
            <a:r>
              <a:rPr lang="en-US" sz="850" dirty="0">
                <a:solidFill>
                  <a:srgbClr val="2D2D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 sync_status: enum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5669280" y="233172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E945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 sendMessage()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7772400" y="1097280"/>
            <a:ext cx="1645920" cy="1645920"/>
          </a:xfrm>
          <a:prstGeom prst="roundRect">
            <a:avLst>
              <a:gd name="adj" fmla="val 4444"/>
            </a:avLst>
          </a:prstGeom>
          <a:solidFill>
            <a:srgbClr val="F8F4F0"/>
          </a:solidFill>
          <a:ln w="12700">
            <a:solidFill>
              <a:srgbClr val="1A1A2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772400" y="1097280"/>
            <a:ext cx="1645920" cy="320040"/>
          </a:xfrm>
          <a:prstGeom prst="rect">
            <a:avLst/>
          </a:prstGeom>
          <a:solidFill>
            <a:srgbClr val="1A1A2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File (Файл)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7863840" y="1463040"/>
            <a:ext cx="146304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2D2D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 id: UUID</a:t>
            </a:r>
            <a:endParaRPr lang="en-US" sz="850" dirty="0"/>
          </a:p>
          <a:p>
            <a:pPr algn="l" indent="0" marL="0">
              <a:buNone/>
            </a:pPr>
            <a:r>
              <a:rPr lang="en-US" sz="850" dirty="0">
                <a:solidFill>
                  <a:srgbClr val="2D2D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 mime_type: string</a:t>
            </a:r>
            <a:endParaRPr lang="en-US" sz="850" dirty="0"/>
          </a:p>
          <a:p>
            <a:pPr algn="l" indent="0" marL="0">
              <a:buNone/>
            </a:pPr>
            <a:r>
              <a:rPr lang="en-US" sz="850" dirty="0">
                <a:solidFill>
                  <a:srgbClr val="2D2D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 storage_path: string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7863840" y="2331720"/>
            <a:ext cx="146304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E945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 requestUpload()</a:t>
            </a:r>
            <a:endParaRPr lang="en-US" sz="850" dirty="0"/>
          </a:p>
          <a:p>
            <a:pPr algn="l" indent="0" marL="0">
              <a:buNone/>
            </a:pPr>
            <a:r>
              <a:rPr lang="en-US" sz="850" dirty="0">
                <a:solidFill>
                  <a:srgbClr val="E945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 confirm()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2286000" y="1920240"/>
            <a:ext cx="640080" cy="0"/>
          </a:xfrm>
          <a:prstGeom prst="line">
            <a:avLst/>
          </a:prstGeom>
          <a:noFill/>
          <a:ln w="12700">
            <a:solidFill>
              <a:srgbClr val="1A1A2E"/>
            </a:solidFill>
            <a:prstDash val="solid"/>
            <a:tailEnd type="triangle"/>
          </a:ln>
        </p:spPr>
      </p:sp>
      <p:sp>
        <p:nvSpPr>
          <p:cNvPr id="20" name="Text 18"/>
          <p:cNvSpPr/>
          <p:nvPr/>
        </p:nvSpPr>
        <p:spPr>
          <a:xfrm>
            <a:off x="2331720" y="1691640"/>
            <a:ext cx="1828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6B6B7A"/>
                </a:solidFill>
              </a:rPr>
              <a:t>1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2697480" y="1691640"/>
            <a:ext cx="2743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6B6B7A"/>
                </a:solidFill>
              </a:rPr>
              <a:t>0..*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2286000" y="1965960"/>
            <a:ext cx="640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E94560"/>
                </a:solidFill>
              </a:rPr>
              <a:t>создает</a:t>
            </a:r>
            <a:endParaRPr lang="en-US" sz="750" dirty="0"/>
          </a:p>
        </p:txBody>
      </p:sp>
      <p:sp>
        <p:nvSpPr>
          <p:cNvPr id="23" name="Shape 21"/>
          <p:cNvSpPr/>
          <p:nvPr/>
        </p:nvSpPr>
        <p:spPr>
          <a:xfrm>
            <a:off x="4937760" y="1920240"/>
            <a:ext cx="640080" cy="0"/>
          </a:xfrm>
          <a:prstGeom prst="line">
            <a:avLst/>
          </a:prstGeom>
          <a:noFill/>
          <a:ln w="12700">
            <a:solidFill>
              <a:srgbClr val="1A1A2E"/>
            </a:solidFill>
            <a:prstDash val="solid"/>
            <a:tailEnd type="triangle"/>
          </a:ln>
        </p:spPr>
      </p:sp>
      <p:sp>
        <p:nvSpPr>
          <p:cNvPr id="24" name="Text 22"/>
          <p:cNvSpPr/>
          <p:nvPr/>
        </p:nvSpPr>
        <p:spPr>
          <a:xfrm>
            <a:off x="4983480" y="1691640"/>
            <a:ext cx="1828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6B6B7A"/>
                </a:solidFill>
              </a:rPr>
              <a:t>1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5349240" y="1691640"/>
            <a:ext cx="2743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6B6B7A"/>
                </a:solidFill>
              </a:rPr>
              <a:t>0..*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4937760" y="1965960"/>
            <a:ext cx="640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E94560"/>
                </a:solidFill>
              </a:rPr>
              <a:t>содержит</a:t>
            </a:r>
            <a:endParaRPr lang="en-US" sz="750" dirty="0"/>
          </a:p>
        </p:txBody>
      </p:sp>
      <p:sp>
        <p:nvSpPr>
          <p:cNvPr id="27" name="Shape 25"/>
          <p:cNvSpPr/>
          <p:nvPr/>
        </p:nvSpPr>
        <p:spPr>
          <a:xfrm>
            <a:off x="7589520" y="1920240"/>
            <a:ext cx="182880" cy="0"/>
          </a:xfrm>
          <a:prstGeom prst="line">
            <a:avLst/>
          </a:prstGeom>
          <a:noFill/>
          <a:ln w="12700">
            <a:solidFill>
              <a:srgbClr val="1A1A2E"/>
            </a:solidFill>
            <a:prstDash val="solid"/>
            <a:tailEnd type="triangle"/>
          </a:ln>
        </p:spPr>
      </p:sp>
      <p:sp>
        <p:nvSpPr>
          <p:cNvPr id="28" name="Text 26"/>
          <p:cNvSpPr/>
          <p:nvPr/>
        </p:nvSpPr>
        <p:spPr>
          <a:xfrm>
            <a:off x="7607808" y="1691640"/>
            <a:ext cx="914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6B6B7A"/>
                </a:solidFill>
              </a:rPr>
              <a:t>1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7699248" y="1691640"/>
            <a:ext cx="914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6B6B7A"/>
                </a:solidFill>
              </a:rPr>
              <a:t>0..*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7543800" y="1965960"/>
            <a:ext cx="2743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E94560"/>
                </a:solidFill>
              </a:rPr>
              <a:t>имеет</a:t>
            </a:r>
            <a:endParaRPr lang="en-US" sz="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164592"/>
            <a:ext cx="8375904" cy="5486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UML Sequence Diagram: Динамика синхронизации</a:t>
            </a:r>
            <a:endParaRPr lang="en-US" sz="1600" dirty="0"/>
          </a:p>
        </p:txBody>
      </p:sp>
      <p:sp>
        <p:nvSpPr>
          <p:cNvPr id="3" name="Shape 1"/>
          <p:cNvSpPr/>
          <p:nvPr/>
        </p:nvSpPr>
        <p:spPr>
          <a:xfrm>
            <a:off x="384048" y="822960"/>
            <a:ext cx="8375904" cy="4119372"/>
          </a:xfrm>
          <a:prstGeom prst="roundRect">
            <a:avLst>
              <a:gd name="adj" fmla="val 2220"/>
            </a:avLst>
          </a:prstGeom>
          <a:solidFill>
            <a:srgbClr val="F8F4F0"/>
          </a:solidFill>
          <a:ln w="12700">
            <a:solidFill>
              <a:srgbClr val="EFEAE3"/>
            </a:solidFill>
            <a:prstDash val="solid"/>
          </a:ln>
          <a:effectLst>
            <a:outerShdw sx="100000" sy="100000" kx="0" ky="0" algn="bl" rotWithShape="0" blurRad="152400" dist="38100" dir="2700000">
              <a:srgbClr val="000000">
                <a:alpha val="12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548640" y="932688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Поток событий (Sequence) и его важность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1417320"/>
            <a:ext cx="8046720" cy="32964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Диаграмма последовательности показывает жизненный цикл во времени:</a:t>
            </a:r>
            <a:endParaRPr lang="en-US" sz="1600" dirty="0"/>
          </a:p>
          <a:p>
            <a:pPr algn="l" indent="0" marL="0">
              <a:buNone/>
            </a:pP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1. Клиент нажимает кнопку 'Отправить'.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2. Фронтенд отправляет POST-запрос на Бэкенд.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3. Бэкенд пишет тикет в PostgreSQL.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4. Бэкенд пишет транзакцию в Outbox.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5. Фоновый воркер асинхронно передает данные в 1С.</a:t>
            </a:r>
            <a:endParaRPr lang="en-US" sz="1600" dirty="0"/>
          </a:p>
          <a:p>
            <a:pPr algn="l" indent="0" marL="0">
              <a:buNone/>
            </a:pP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Почему важен этот сценарий?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Визуализирует временные задержки и асинхронные границы.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Четко разделяет синхронный клиентский шаг и асинхронный фоновый шаг синхронизации с 1С.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Позволяет легко выявить потенциальные места зависаний (timeouts) и сетевых сбоев.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164592"/>
            <a:ext cx="8375904" cy="5486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ERD: Реляционная схема базы данных</a:t>
            </a:r>
            <a:endParaRPr lang="en-US" sz="1600" dirty="0"/>
          </a:p>
        </p:txBody>
      </p:sp>
      <p:sp>
        <p:nvSpPr>
          <p:cNvPr id="3" name="Shape 1"/>
          <p:cNvSpPr/>
          <p:nvPr/>
        </p:nvSpPr>
        <p:spPr>
          <a:xfrm>
            <a:off x="384048" y="822960"/>
            <a:ext cx="8375904" cy="4119372"/>
          </a:xfrm>
          <a:prstGeom prst="roundRect">
            <a:avLst>
              <a:gd name="adj" fmla="val 2220"/>
            </a:avLst>
          </a:prstGeom>
          <a:solidFill>
            <a:srgbClr val="F8F4F0"/>
          </a:solidFill>
          <a:ln w="12700">
            <a:solidFill>
              <a:srgbClr val="EFEAE3"/>
            </a:solidFill>
            <a:prstDash val="solid"/>
          </a:ln>
          <a:effectLst>
            <a:outerShdw sx="100000" sy="100000" kx="0" ky="0" algn="bl" rotWithShape="0" blurRad="152400" dist="38100" dir="2700000">
              <a:srgbClr val="000000">
                <a:alpha val="12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548640" y="932688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ER-моделирование данных и ключевые сущности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1417320"/>
            <a:ext cx="8046720" cy="32964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В отличие от абстрактной диаграммы классов UML, ERD описывает физическую структуру таблиц СУБД PostgreSQL.</a:t>
            </a:r>
            <a:endParaRPr lang="en-US" sz="1600" dirty="0"/>
          </a:p>
          <a:p>
            <a:pPr algn="l" indent="0" marL="0">
              <a:buNone/>
            </a:pP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Здесь четко фиксируются первичные ключи (Primary Keys, UUID), внешние ключи (Foreign Keys) и индексы для оптимизации запросов поиска.</a:t>
            </a:r>
            <a:endParaRPr lang="en-US" sz="1600" dirty="0"/>
          </a:p>
          <a:p>
            <a:pPr algn="l" indent="0" marL="0">
              <a:buNone/>
            </a:pP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Ключевые сущности (Таблицы БД):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users — данные пользователей (телефон, имя, роль).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tickets — обращения клиентов (id, статус, version).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messages — сообщения чата (id, текст, timestamp).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attachments — файлы из S3 (id, mime, path).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outbox — транзакционная очередь отправки в 1С.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164592"/>
            <a:ext cx="8375904" cy="5486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BPMN: Жизненный цикл обращения клиента</a:t>
            </a:r>
            <a:endParaRPr lang="en-US" sz="1600" dirty="0"/>
          </a:p>
        </p:txBody>
      </p:sp>
      <p:sp>
        <p:nvSpPr>
          <p:cNvPr id="3" name="Shape 1"/>
          <p:cNvSpPr/>
          <p:nvPr/>
        </p:nvSpPr>
        <p:spPr>
          <a:xfrm>
            <a:off x="384048" y="822960"/>
            <a:ext cx="8375904" cy="4119372"/>
          </a:xfrm>
          <a:prstGeom prst="roundRect">
            <a:avLst>
              <a:gd name="adj" fmla="val 2220"/>
            </a:avLst>
          </a:prstGeom>
          <a:solidFill>
            <a:srgbClr val="F8F4F0"/>
          </a:solidFill>
          <a:ln w="12700">
            <a:solidFill>
              <a:srgbClr val="EFEAE3"/>
            </a:solidFill>
            <a:prstDash val="solid"/>
          </a:ln>
          <a:effectLst>
            <a:outerShdw sx="100000" sy="100000" kx="0" ky="0" algn="bl" rotWithShape="0" blurRad="152400" dist="38100" dir="2700000">
              <a:srgbClr val="000000">
                <a:alpha val="12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548640" y="932688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Зачем использовать BPMN и событийные статусы заявки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1417320"/>
            <a:ext cx="8046720" cy="32964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UML не очень хорошо подходит для бизнес-процессов. Нотация BPMN 2.0 использовалась нами для описания сквозного workflow прохождения заявки.</a:t>
            </a:r>
            <a:endParaRPr lang="en-US" sz="1600" dirty="0"/>
          </a:p>
          <a:p>
            <a:pPr algn="l" indent="0" marL="0">
              <a:buNone/>
            </a:pP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Это позволяет согласовать регламенты работы службы техподдержки с алгоритмами переключения статусов в базе данных.</a:t>
            </a:r>
            <a:endParaRPr lang="en-US" sz="1600" dirty="0"/>
          </a:p>
          <a:p>
            <a:pPr algn="l" indent="0" marL="0">
              <a:buNone/>
            </a:pP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Событийные статусы заявки: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Создано (New) — клиент отправил заявку.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В работе (Active) — менеджер назначил специалиста.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Ожидание оценки — специалист оценивает часы.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Выполнено (Closed) — работа завершена.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Переоткрыто (Reopened) — проблема клиента осталась.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164592"/>
            <a:ext cx="8375904" cy="5486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Diagrams as Code: PlantUML &amp; Mermaid.js</a:t>
            </a:r>
            <a:endParaRPr lang="en-US" sz="1600" dirty="0"/>
          </a:p>
        </p:txBody>
      </p:sp>
      <p:sp>
        <p:nvSpPr>
          <p:cNvPr id="3" name="Shape 1"/>
          <p:cNvSpPr/>
          <p:nvPr/>
        </p:nvSpPr>
        <p:spPr>
          <a:xfrm>
            <a:off x="384048" y="822960"/>
            <a:ext cx="4023360" cy="4119372"/>
          </a:xfrm>
          <a:prstGeom prst="roundRect">
            <a:avLst>
              <a:gd name="adj" fmla="val 2273"/>
            </a:avLst>
          </a:prstGeom>
          <a:solidFill>
            <a:srgbClr val="F8F4F0"/>
          </a:solidFill>
          <a:ln w="12700">
            <a:solidFill>
              <a:srgbClr val="EFEAE3"/>
            </a:solidFill>
            <a:prstDash val="solid"/>
          </a:ln>
          <a:effectLst>
            <a:outerShdw sx="100000" sy="100000" kx="0" ky="0" algn="bl" rotWithShape="0" blurRad="152400" dist="38100" dir="2700000">
              <a:srgbClr val="000000">
                <a:alpha val="12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548640" y="932688"/>
            <a:ext cx="369417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Сущность подхода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1389888"/>
            <a:ext cx="3694176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Вместо рисования мышкой в тяжелых редакторах, мы описываем архитектуру текстом (кодом). Специальные движки PlantUML или Mermaid автоматически генерируют красивую векторную SVG/PNG диаграмму.</a:t>
            </a:r>
            <a:endParaRPr lang="en-US" sz="1600" dirty="0"/>
          </a:p>
          <a:p>
            <a:pPr algn="l" indent="0" marL="0">
              <a:buNone/>
            </a:pP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Код диаграмм хранится прямо в Git-репозитории проекта.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681728" y="822960"/>
            <a:ext cx="4078224" cy="4119372"/>
          </a:xfrm>
          <a:prstGeom prst="roundRect">
            <a:avLst>
              <a:gd name="adj" fmla="val 1794"/>
            </a:avLst>
          </a:prstGeom>
          <a:solidFill>
            <a:srgbClr val="1A1A2E"/>
          </a:solidFill>
          <a:ln w="12700">
            <a:solidFill>
              <a:srgbClr val="2A2A4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818888" y="905256"/>
            <a:ext cx="3803904" cy="39547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F8F4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@startuml</a:t>
            </a:r>
            <a:endParaRPr lang="en-US" sz="105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F8F4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User {</a:t>
            </a:r>
            <a:endParaRPr lang="en-US" sz="105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F8F4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+ id: UUID</a:t>
            </a:r>
            <a:endParaRPr lang="en-US" sz="105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F8F4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+ phone: string</a:t>
            </a:r>
            <a:endParaRPr lang="en-US" sz="105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F8F4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5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F8F4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Ticket {</a:t>
            </a:r>
            <a:endParaRPr lang="en-US" sz="105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F8F4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+ id: UUID</a:t>
            </a:r>
            <a:endParaRPr lang="en-US" sz="105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F8F4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+ title: string</a:t>
            </a:r>
            <a:endParaRPr lang="en-US" sz="105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F8F4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5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F8F4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Message {</a:t>
            </a:r>
            <a:endParaRPr lang="en-US" sz="105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F8F4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+ id: UUID</a:t>
            </a:r>
            <a:endParaRPr lang="en-US" sz="105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F8F4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+ text: string</a:t>
            </a:r>
            <a:endParaRPr lang="en-US" sz="105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F8F4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5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F8F4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 "1" *-- "0..*" Ticket : создаёт</a:t>
            </a:r>
            <a:endParaRPr lang="en-US" sz="105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F8F4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Ticket "1" *-- "0..*" Message : содержит</a:t>
            </a:r>
            <a:endParaRPr lang="en-US" sz="105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F8F4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@endum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164592"/>
            <a:ext cx="8375904" cy="5486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Сравнение инструментов моделирования</a:t>
            </a:r>
            <a:endParaRPr lang="en-US" sz="16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84048" y="822960"/>
          <a:ext cx="8375904" cy="4119372"/>
        </p:xfrm>
        <a:graphic>
          <a:graphicData uri="http://schemas.openxmlformats.org/drawingml/2006/table">
            <a:tbl>
              <a:tblPr/>
              <a:tblGrid>
                <a:gridCol w="2286000"/>
                <a:gridCol w="3017520"/>
                <a:gridCol w="3072384"/>
              </a:tblGrid>
              <a:tr h="5943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Критерий</a:t>
                      </a:r>
                      <a:endParaRPr lang="en-US" sz="11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Визуальные (Draw.io, Miro)</a:t>
                      </a:r>
                      <a:endParaRPr lang="en-US" sz="11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Кодовые (PlantUML, Mermaid)</a:t>
                      </a:r>
                      <a:endParaRPr lang="en-US" sz="11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Скорость старта</a:t>
                      </a:r>
                      <a:endParaRPr lang="en-US" sz="11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4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Быстро (drag &amp; drop)</a:t>
                      </a:r>
                      <a:endParaRPr lang="en-US" sz="11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4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Требуется изучение синтаксиса</a:t>
                      </a:r>
                      <a:endParaRPr lang="en-US" sz="11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4F0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Командная работа</a:t>
                      </a:r>
                      <a:endParaRPr lang="en-US" sz="11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Сложно мержить XML-файлы</a:t>
                      </a:r>
                      <a:endParaRPr lang="en-US" sz="11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Просто (стандартные текстовые коммиты)</a:t>
                      </a:r>
                      <a:endParaRPr lang="en-US" sz="11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Сопровождение</a:t>
                      </a:r>
                      <a:endParaRPr lang="en-US" sz="11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4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Трудно перерисовывать при росте</a:t>
                      </a:r>
                      <a:endParaRPr lang="en-US" sz="11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4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Мгновенно (автоматическая перекомпоновка)</a:t>
                      </a:r>
                      <a:endParaRPr lang="en-US" sz="11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4F0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Интеграция в CI/CD</a:t>
                      </a:r>
                      <a:endParaRPr lang="en-US" sz="11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Невозможна</a:t>
                      </a:r>
                      <a:endParaRPr lang="en-US" sz="11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Простая (автогенерация схем в пайплайне)</a:t>
                      </a:r>
                      <a:endParaRPr lang="en-US" sz="11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Версионирование</a:t>
                      </a:r>
                      <a:endParaRPr lang="en-US" sz="11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4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Бинарные или тяжелые XML</a:t>
                      </a:r>
                      <a:endParaRPr lang="en-US" sz="11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4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Легковесный Markdown/PUML код</a:t>
                      </a:r>
                      <a:endParaRPr lang="en-US" sz="11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4F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164592"/>
            <a:ext cx="8375904" cy="5486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Трассировка моделей на физический код</a:t>
            </a:r>
            <a:endParaRPr lang="en-US" sz="1600" dirty="0"/>
          </a:p>
        </p:txBody>
      </p:sp>
      <p:sp>
        <p:nvSpPr>
          <p:cNvPr id="3" name="Shape 1"/>
          <p:cNvSpPr/>
          <p:nvPr/>
        </p:nvSpPr>
        <p:spPr>
          <a:xfrm>
            <a:off x="384048" y="822960"/>
            <a:ext cx="8375904" cy="4119372"/>
          </a:xfrm>
          <a:prstGeom prst="roundRect">
            <a:avLst>
              <a:gd name="adj" fmla="val 2220"/>
            </a:avLst>
          </a:prstGeom>
          <a:solidFill>
            <a:srgbClr val="F8F4F0"/>
          </a:solidFill>
          <a:ln w="12700">
            <a:solidFill>
              <a:srgbClr val="EFEAE3"/>
            </a:solidFill>
            <a:prstDash val="solid"/>
          </a:ln>
          <a:effectLst>
            <a:outerShdw sx="100000" sy="100000" kx="0" ky="0" algn="bl" rotWithShape="0" blurRad="152400" dist="38100" dir="2700000">
              <a:srgbClr val="000000">
                <a:alpha val="12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548640" y="932688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UML Class → Drizzle ORM Schema и UML Component → Docker-контейнеры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1417320"/>
            <a:ext cx="8046720" cy="32964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UML Class → Drizzle ORM Schema: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Связи 1-ко-многим между сущностями `User`, `Ticket` и `Message` на диаграмме классов UML преобразуются в реальные связи `foreign key` в файле описания схемы БД `/db/schema.ts`.</a:t>
            </a:r>
            <a:endParaRPr lang="en-US" sz="1600" dirty="0"/>
          </a:p>
          <a:p>
            <a:pPr algn="l" indent="0" marL="0">
              <a:buNone/>
            </a:pP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Каждому атрибуту класса сопоставляется строгий тип поля (UUID, text, integer, timestamp).</a:t>
            </a:r>
            <a:endParaRPr lang="en-US" sz="1600" dirty="0"/>
          </a:p>
          <a:p>
            <a:pPr algn="l" indent="0" marL="0">
              <a:buNone/>
            </a:pP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UML Component → Docker-контейнеры: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Каждый отдельный прямоугольник-компонент на нашей UML Component Diagram запускается как изолированный процесс в своем собственном контейнере Docker. Сборка и сетевые мосты (bridges) между ними описываются в конфигурационном манифесте `docker-compose.yml`.</a:t>
            </a:r>
            <a:endParaRPr lang="en-US" sz="16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164592"/>
            <a:ext cx="8375904" cy="5486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Выводы по теме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475488" y="868680"/>
            <a:ext cx="8193024" cy="40279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ts val="3200"/>
              </a:lnSpc>
              <a:buNone/>
            </a:pPr>
            <a:r>
              <a:rPr lang="en-US" sz="18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Использование стандартизованных языков моделирования (UML, ERD, BPMN) совместно с концепцией Diagrams as Code позволило спроектировать Личный кабинет структурированным, масштабируемым и поддерживаемым. Модели предметной области послужили прямым техническим заданием для создания реляционной схемы в PostgreSQL, диаграмма компонентов определила чистую топологию контейнеров Docker, а BPMN-схема гарантировала корректность бизнес-логики.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P4 — Языки моделирования</dc:title>
  <dc:subject>PptxGenJS Presentation</dc:subject>
  <dc:creator>Ломазина Александра, гр 22307</dc:creator>
  <cp:lastModifiedBy>Ломазина Александра, гр 22307</cp:lastModifiedBy>
  <cp:revision>1</cp:revision>
  <dcterms:created xsi:type="dcterms:W3CDTF">2026-06-24T12:54:23Z</dcterms:created>
  <dcterms:modified xsi:type="dcterms:W3CDTF">2026-06-24T12:54:23Z</dcterms:modified>
</cp:coreProperties>
</file>