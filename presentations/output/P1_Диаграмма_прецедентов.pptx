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657600" cy="36576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Диаграмма прецедентов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ТППО: «Личный кабинет для клиентов компании»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Выполнила: Ломазина Александра, гр 22307   |   Руководитель: Корзун Дмитрий Жоржевич   |   ИМИТ ПетрГУ,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 моделирования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практической задачи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Замена устаревшего «Журнала обращений» в 1С современным клиентским порталом.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Клиенты часто ошибаются при выборе услуги, сложно отслеживать статусы и общаться с исполнителями.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Конкретная задача моделирования: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Построить Диаграмму прецедентов UML, которая чётко определит границы системы, роли участников и основные сценарии взаимодействия.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Назначение диаграммы прецедентов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UML Use Case и преимущества подхода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Описывает функциональность системы с точки зрения акторов.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Позволяет зафиксировать границы проектируемой системы.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Является основой для приёмо-сдаточных испытаний и тестов.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Преимущества подхода: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Абстрагирование от конкретной программной реализации.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Простое и понятное общение с бизнес-заказчиками компании.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Прямая трассировка требований в API-эндпоинты и СУБД.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Контекст проекта: Личный кабинет клиента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Бизнес-цели портала и интеграционные стыки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Бизнес-цели портала: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Разгрузка линии технической поддержки клиентов.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Прозрачный контроль выполнения заявок по 1С.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Оперативное согласование коммерческих предложений.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Интеграционные стыки: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Локальная БД PostgreSQL для хранения сессий и сообщений.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Внешний симулятор 1С для синхронизации справочников.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Объектное S3-хранилище MinIO для тяжелых файлов.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Действующие лица (Actors) системы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96512" cy="1968246"/>
          </a:xfrm>
          <a:prstGeom prst="roundRect">
            <a:avLst>
              <a:gd name="adj" fmla="val 4646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1208" y="9144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Представитель клиента (Клиент)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1208" y="1234440"/>
            <a:ext cx="3822192" cy="1465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пользователь. Инициирует запросы на техподдержку 1С, прикрепляет скриншоты ошибок, общается в реальном времени в чате и заказывает обратные звонки.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096512" cy="1968246"/>
          </a:xfrm>
          <a:prstGeom prst="roundRect">
            <a:avLst>
              <a:gd name="adj" fmla="val 4646"/>
            </a:avLst>
          </a:prstGeom>
          <a:solidFill>
            <a:srgbClr val="D4EDDA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9144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Сотрудник компании (Менеджер/Исполнитель)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234440"/>
            <a:ext cx="3822192" cy="1465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Внутренний пользователь. Принимает обращения в работу, меняет статусы, формирует коммерческие оценки трудоемкости в часах и общается с клиентом.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974086"/>
            <a:ext cx="4096512" cy="1968246"/>
          </a:xfrm>
          <a:prstGeom prst="roundRect">
            <a:avLst>
              <a:gd name="adj" fmla="val 4646"/>
            </a:avLst>
          </a:prstGeom>
          <a:solidFill>
            <a:srgbClr val="E8D9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306552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 портала (Administrator)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" y="3385566"/>
            <a:ext cx="3822192" cy="1465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Администрирует учетные записи и роли сотрудников и клиентов ООО «Неосистемы», настраивает права доступа, мониторит интеграционные логи и очереди отправки.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4086"/>
            <a:ext cx="4096512" cy="1968246"/>
          </a:xfrm>
          <a:prstGeom prst="roundRect">
            <a:avLst>
              <a:gd name="adj" fmla="val 4646"/>
            </a:avLst>
          </a:prstGeom>
          <a:solidFill>
            <a:srgbClr val="FFF3CD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306552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Внешняя система (1С:Предприятие)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3385566"/>
            <a:ext cx="3822192" cy="1465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Актор-система. Выступает источником справочников договоров и конфигураций. Принимает синхронизированные из портала обращения через интеграционный слой.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Состав прецедентов (Use Cases)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416966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Актор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Прецедент (Use Case)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Описание сценария взаимодействия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Вход по SMS OTP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Двухфакторный безопасный вход без пароля по коду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Создание обращения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Оформление заявки на техподдержку с выбором конфигурации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Просмотр списка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Мониторинг статусов, поиск и фильтрация обращений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Общение в чате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Взаимодействие со специалистом в реальном времени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Загрузить файл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Прямая бинарная загрузка в MinIO S3 по временной ссылке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Push-уведомления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Получение мгновенных оповещений по WebSocket при изменении статуса обращения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Менеджер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Очередь тикетов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Просмотр и фильтрация всех поступивших заявок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Менеджер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Взять в работу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Назначение исполнителя и смена статуса в БД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Менеджер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Оценка часов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Формирование сметы трудозатрат по обращению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Менеджер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Изменить статус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Фиксация этапов выполнения (Выполнено, Закрыто)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Диаграмма прецедентов UML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0" y="822960"/>
            <a:ext cx="6583680" cy="4119372"/>
          </a:xfrm>
          <a:prstGeom prst="roundRect">
            <a:avLst>
              <a:gd name="adj" fmla="val 1776"/>
            </a:avLst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8686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7A"/>
                </a:solidFill>
              </a:rPr>
              <a:t>«Система» client-portal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234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Вход (SMS OTP)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895551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895551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Создать обращение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2556662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55666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Просмотр списка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3217774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21777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Чат поддержки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3878885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878885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Загрузить файл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4539996"/>
            <a:ext cx="2011680" cy="402336"/>
          </a:xfrm>
          <a:prstGeom prst="ellipse">
            <a:avLst/>
          </a:prstGeom>
          <a:solidFill>
            <a:srgbClr val="EFEAE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399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Push-уведомления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0" y="12344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2344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Сотрудник / Менеджер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600200"/>
            <a:ext cx="2011680" cy="402336"/>
          </a:xfrm>
          <a:prstGeom prst="ellipse">
            <a:avLst/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6002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Очередь тикетов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2075688"/>
            <a:ext cx="2011680" cy="402336"/>
          </a:xfrm>
          <a:prstGeom prst="ellipse">
            <a:avLst/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Взять в работу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0" y="2551176"/>
            <a:ext cx="2011680" cy="402336"/>
          </a:xfrm>
          <a:prstGeom prst="ellipse">
            <a:avLst/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5511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Оценка часов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3026664"/>
            <a:ext cx="2011680" cy="402336"/>
          </a:xfrm>
          <a:prstGeom prst="ellipse">
            <a:avLst/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0266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3A"/>
                </a:solidFill>
              </a:rPr>
              <a:t>Изменить статус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23360" y="2286000"/>
            <a:ext cx="1371600" cy="402336"/>
          </a:xfrm>
          <a:prstGeom prst="ellipse">
            <a:avLst/>
          </a:prstGeom>
          <a:solidFill>
            <a:srgbClr val="F8F4F0"/>
          </a:solidFill>
          <a:ln w="12700">
            <a:solidFill>
              <a:srgbClr val="6B6B7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023360" y="22860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3A"/>
                </a:solidFill>
              </a:rPr>
              <a:t>Проверка прав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3A"/>
                </a:solidFill>
              </a:rPr>
              <a:t>&lt;&lt;include&gt;&gt;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0" y="2194560"/>
            <a:ext cx="228600" cy="182880"/>
          </a:xfrm>
          <a:prstGeom prst="line">
            <a:avLst/>
          </a:prstGeom>
          <a:noFill/>
          <a:ln w="12700">
            <a:solidFill>
              <a:srgbClr val="6B6B7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" y="2331720"/>
            <a:ext cx="0" cy="32004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" y="2423160"/>
            <a:ext cx="-137160" cy="-4572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" y="2423160"/>
            <a:ext cx="137160" cy="-4572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" y="2651760"/>
            <a:ext cx="-137160" cy="22860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" y="2651760"/>
            <a:ext cx="137160" cy="22860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9260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Клиент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5840" y="2468880"/>
            <a:ext cx="640080" cy="0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2103120"/>
            <a:ext cx="228600" cy="2286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8180" y="2331720"/>
            <a:ext cx="0" cy="32004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98180" y="2423160"/>
            <a:ext cx="-137160" cy="-4572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8180" y="2423160"/>
            <a:ext cx="137160" cy="-4572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8180" y="2651760"/>
            <a:ext cx="-13716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98180" y="2651760"/>
            <a:ext cx="137160" cy="22860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29260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Сотрудник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680960" y="2468880"/>
            <a:ext cx="45720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UC-01: Создание обращения клиента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6547104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Характеристика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Детали сценария прецедента UC-01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Главный актор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Представитель клиента (Клиент)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 успешно прошел авторизацию OTP; активна форма 'Новое обращение'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Основной поток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Клиент выбирает конфигурацию 1С.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Указывает тему и описывает проблему.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Опционально прикрепляет файлы ошибок.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 Нажимает 'Отправить'.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Альтернативы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Сбой валидации: поля подсвечиваются красным, отправка формы блокируется.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Постусловия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Создана запись в таблице tickets со статусом 'Новое'; создано событие в outbox.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UC-02: Чат в реальном времени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6547104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Характеристика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Детали сценария прецедента UC-02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Главные акторы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Клиент и Специалист технической поддержки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Открыт экран 'Детали обращения', установлено WebSocket-соединение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Основной поток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Пользователь вводит текст в поле чата.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Нажимает 'Отправить' (генерируется Idempotency-Key).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Сообщение мгновенно доставляется второй стороне по протоколу WS.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Сбой сети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WS разорван: сообщение сохраняется в LocalStorage и отправляется при реконнекте.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Постусловия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Сообщение записано в БД с sync_status='synced', выведен статус доставки.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UC-03: Загрузка файлов в S3 MinIO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6547104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Характеристика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Детали сценария прецедента UC-03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Главный актор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Представитель клиента (Клиент)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Выбран файл для прикрепления в форме чата или создания тикета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Основной поток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Фронтенд запрашивает временную presigned-ссылку у бэкенда.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Бэкенд валидирует размер (&lt;10MB) и тип файла.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Фронтенд загружает файл методом PUT напрямую в S3 MinIO.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Альтернативы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Превышен размер: выдается предупреждение, загрузка отклоняется.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Постусловия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Файл успешно сохранен в S3 bucket, ссылка добавлена в таблицу attachments.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UC-04: Синхронизация обращений с 1С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1828800"/>
                <a:gridCol w="6547104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Характеристика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Детали сценария прецедента UC-04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Главные акторы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Сервис синхронизации (Sync Service) и база 1С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Предусловия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 PostgreSQL записана транзакция в таблицу outbox со статусом pending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Основной поток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Фоновый воркер каждые 5 секунд выбирает необработанные записи outbox.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Передает данные о тикетах в симулятор 1С.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При успешном ответе обновляет статус на 'processed'.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Ошибки связи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Сервер 1С недоступен: попытка откладывается, включается экспоненциальный таймаут.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Постусловия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Локальные обращения клиента синхронизированы с учетной базой компании.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Трассировка прецедентов на API-маршруты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2560320"/>
                <a:gridCol w="243230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Прецедент (Use Case)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HTTP-метод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Эндпоинт REST API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Класс-валидатор Zod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UC-02: Создание обращения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CreateTicketSchema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UC-04: Отправка сообщения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/api/tickets/:id/messages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SendMessageSchema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UC-05: Временный S3-доступ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/api/files/upload-request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UploadRequestSchema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UC-03: Получение списка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GetTicketsQuerySchema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UC-10: Изменить статус тикета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/api/tickets/:id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UpdateTicketStatusSchema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Связь с приемочным тестированием (E2E)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Приёмочные сценарии Playwright и интеграционные проверки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Приёмочные сценарии Playwright: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Ключевые сценарии Use Cases покрыты приемочными сквозными тестами.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Тест эмулирует клики пользователя, ввод текста и проверку UI-реакций.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Проверяется сквозная цепочка: от создания на фронте до записи в СУБД.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Интеграционные сквозные проверки: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Синхронизация Outbox с базой 1С тестируется через моки API.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Проверка обработки сетевых разрывов при отправке чата WS.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Верификация корректности загрузки файлов на мок-сервер S3 (MinIO).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теме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193024" cy="4027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Разработка диаграммы прецедентов (Use Case Diagram) заложила надежный фундамент для всего проекта «Личный кабинет». Она позволила точно определить роли пользователей, выявить 10 важнейших прецедентов, спроектировать интеграционные потоки и связать требования бизнеса с техническими роутами API, автотестами и СУБД. Благодаря этому обеспечена согласованность требований на всех стадиях жизненного цикла разработки.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 — Диаграмма прецедентов</dc:title>
  <dc:subject>PptxGenJS Presentation</dc:subject>
  <dc:creator>Ломазина Александра, гр 22307</dc:creator>
  <cp:lastModifiedBy>Ломазина Александра, гр 22307</cp:lastModifiedBy>
  <cp:revision>1</cp:revision>
  <dcterms:created xsi:type="dcterms:W3CDTF">2026-06-24T12:54:23Z</dcterms:created>
  <dcterms:modified xsi:type="dcterms:W3CDTF">2026-06-24T12:54:23Z</dcterms:modified>
</cp:coreProperties>
</file>