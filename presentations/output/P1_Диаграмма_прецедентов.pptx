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822960"/>
            <a:ext cx="3200400" cy="3200400"/>
          </a:xfrm>
          <a:prstGeom prst="ellipse">
            <a:avLst/>
          </a:prstGeom>
          <a:solidFill>
            <a:srgbClr val="EA580C">
              <a:alpha val="20000"/>
            </a:srgbClr>
          </a:solidFill>
          <a:ln w="12700">
            <a:solidFill>
              <a:srgbClr val="EA580C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566160"/>
            <a:ext cx="2377440" cy="2377440"/>
          </a:xfrm>
          <a:prstGeom prst="ellipse">
            <a:avLst/>
          </a:prstGeom>
          <a:solidFill>
            <a:srgbClr val="FFEDD5">
              <a:alpha val="13000"/>
            </a:srgbClr>
          </a:solidFill>
          <a:ln w="12700">
            <a:solidFill>
              <a:srgbClr val="FFEDD5">
                <a:alpha val="1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прецедентов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Diagram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ТППО: «Личный кабинет для клиентов компании»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A1424"/>
          </a:solidFill>
          <a:ln w="12700">
            <a:solidFill>
              <a:srgbClr val="0A14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B9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Выполнила: Ломазина А., гр.22307   |   Руководитель: Корзун Д.Ж.   |   ИМИТ ПетрГУ, 2024/25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Назначение диаграммы прецедентов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UML Use Case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Описывает функциональность системы с точки зрения акторов.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Позволяет зафиксировать границы проектируемой системы.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Является основой для приёмо-сдаточных испытаний и тестов.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подхода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Абстрагирование от конкретной программной реализации.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Простое и понятное общение с бизнес-заказчиками компании.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Прямая трассировка требований в API-эндпоинты и СУБД.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Контекст проекта: Личный кабинет клиента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Бизнес-цели портала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Разгрузка линии технической поддержки клиентов.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Прозрачный контроль выполнения заявок по 1С.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Оперативное согласование коммерческих предложений.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Интеграционные стыки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БД PostgreSQL для хранения сессий и сообщений.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симулятор 1С для синхронизации справочников.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Объектное S3-хранилище MinIO для тяжелых файлов.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Действующие лица (Actors) системы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1440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Представитель клиента (Клиент)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21208" y="1234440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пользователь. Инициирует запросы на техподдержку 1С, прикрепляет скриншоты ошибок, общается в реальном времени в чате и заказывает обратные звонки.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63440" y="822960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91440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Сотрудник компании (Менеджер/Исполнитель)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800600" y="1234440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пользователь. Принимает обращения в работу, меняет статусы, формирует коммерческие оценки трудоемкости в часах и общается с клиентом.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4048" y="2974086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1208" y="306552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Администратор портала (Administrator)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21208" y="3385566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Администрирует учетные записи и роли сотрудников и клиентов ООО «Неосистемы», настраивает права доступа, мониторит интеграционные логи и очереди отправки.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974086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306552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Внешняя система (1С:Предприятие)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3385566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Актор-система. Выступает источником справочников договоров и конфигураций. Принимает синхронизированные из портала обращения через интеграционный слой.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Состав прецедентов (Use Cases)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416966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Актор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Прецедент (Use Case)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Описание сценария взаимодействия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Вход по SMS OTP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Двухфакторный безопасный вход без пароля по коду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Создание обращения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Оформление заявки на техподдержку с выбором конфигурации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Просмотр списка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Мониторинг статусов, поиск и фильтрация обращений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Общение в чате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Взаимодействие со специалистом в реальном времени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Загрузить файл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Прямая бинарная загрузка в MinIO S3 по временной ссылке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Push-уведомления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Получение мгновенных оповещений по WebSocket при изменении статуса обращения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Менеджер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Очередь тикетов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Просмотр и фильтрация всех поступивших заявок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Менеджер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Взять в работу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Назначение исполнителя и смена статуса в БД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Менеджер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Оценка часов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Формирование сметы трудозатрат по обращению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Менеджер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Изменить статус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Фиксация этапов выполнения (Выполнено, Закрыто)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прецедентов UML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645920" y="822960"/>
            <a:ext cx="6583680" cy="4119372"/>
          </a:xfrm>
          <a:prstGeom prst="roundRect">
            <a:avLst>
              <a:gd name="adj" fmla="val 1776"/>
            </a:avLst>
          </a:prstGeom>
          <a:solidFill>
            <a:srgbClr val="F8FAFC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0" y="86868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«Система» client-portal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0" y="1234440"/>
            <a:ext cx="2011680" cy="402336"/>
          </a:xfrm>
          <a:prstGeom prst="ellipse">
            <a:avLst/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234440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Вход (SMS OTP)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28800" y="1895551"/>
            <a:ext cx="2011680" cy="402336"/>
          </a:xfrm>
          <a:prstGeom prst="ellipse">
            <a:avLst/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895551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Создать обращение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0" y="2556662"/>
            <a:ext cx="2011680" cy="402336"/>
          </a:xfrm>
          <a:prstGeom prst="ellipse">
            <a:avLst/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2556662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Просмотр списка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828800" y="3217774"/>
            <a:ext cx="2011680" cy="402336"/>
          </a:xfrm>
          <a:prstGeom prst="ellipse">
            <a:avLst/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3217774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Чат поддержки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28800" y="3878885"/>
            <a:ext cx="2011680" cy="402336"/>
          </a:xfrm>
          <a:prstGeom prst="ellipse">
            <a:avLst/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3878885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Загрузить файл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828800" y="4539996"/>
            <a:ext cx="2011680" cy="402336"/>
          </a:xfrm>
          <a:prstGeom prst="ellipse">
            <a:avLst/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4539996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Push-уведомления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234440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0F1E36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0" y="12344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Сотрудник / Менеджер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69280" y="1600200"/>
            <a:ext cx="2011680" cy="402336"/>
          </a:xfrm>
          <a:prstGeom prst="ellipse">
            <a:avLst/>
          </a:prstGeom>
          <a:solidFill>
            <a:srgbClr val="FFF7ED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0" y="1600200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Очередь тикетов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0" y="2075688"/>
            <a:ext cx="2011680" cy="402336"/>
          </a:xfrm>
          <a:prstGeom prst="ellipse">
            <a:avLst/>
          </a:prstGeom>
          <a:solidFill>
            <a:srgbClr val="FFF7ED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0" y="2075688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Взять в работу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669280" y="2551176"/>
            <a:ext cx="2011680" cy="402336"/>
          </a:xfrm>
          <a:prstGeom prst="ellipse">
            <a:avLst/>
          </a:prstGeom>
          <a:solidFill>
            <a:srgbClr val="FFF7ED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2551176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Оценка часов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69280" y="3026664"/>
            <a:ext cx="2011680" cy="402336"/>
          </a:xfrm>
          <a:prstGeom prst="ellipse">
            <a:avLst/>
          </a:prstGeom>
          <a:solidFill>
            <a:srgbClr val="FFF7ED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3026664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Изменить статус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023360" y="2286000"/>
            <a:ext cx="1371600" cy="402336"/>
          </a:xfrm>
          <a:prstGeom prst="ellipse">
            <a:avLst/>
          </a:prstGeom>
          <a:solidFill>
            <a:srgbClr val="FFF7ED"/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023360" y="2286000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Проверка прав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&lt;&lt;include&gt;&gt;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840480" y="2194560"/>
            <a:ext cx="22860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94360" y="2103120"/>
            <a:ext cx="228600" cy="22860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8660" y="2331720"/>
            <a:ext cx="0" cy="32004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8660" y="2423160"/>
            <a:ext cx="-137160" cy="-4572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8660" y="2423160"/>
            <a:ext cx="137160" cy="-4572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8660" y="2651760"/>
            <a:ext cx="-137160" cy="22860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8660" y="2651760"/>
            <a:ext cx="137160" cy="22860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" y="29260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</a:rPr>
              <a:t>Клиент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005840" y="2468880"/>
            <a:ext cx="640080" cy="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83880" y="2103120"/>
            <a:ext cx="228600" cy="228600"/>
          </a:xfrm>
          <a:prstGeom prst="ellipse">
            <a:avLst/>
          </a:prstGeom>
          <a:solidFill>
            <a:srgbClr val="0F1E36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8180" y="2331720"/>
            <a:ext cx="0" cy="320040"/>
          </a:xfrm>
          <a:prstGeom prst="line">
            <a:avLst/>
          </a:prstGeom>
          <a:noFill/>
          <a:ln w="12700">
            <a:solidFill>
              <a:srgbClr val="0F1E3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98180" y="2423160"/>
            <a:ext cx="-137160" cy="-45720"/>
          </a:xfrm>
          <a:prstGeom prst="line">
            <a:avLst/>
          </a:prstGeom>
          <a:noFill/>
          <a:ln w="12700">
            <a:solidFill>
              <a:srgbClr val="0F1E3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98180" y="2423160"/>
            <a:ext cx="137160" cy="-45720"/>
          </a:xfrm>
          <a:prstGeom prst="line">
            <a:avLst/>
          </a:prstGeom>
          <a:noFill/>
          <a:ln w="12700">
            <a:solidFill>
              <a:srgbClr val="0F1E3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98180" y="2651760"/>
            <a:ext cx="-137160" cy="228600"/>
          </a:xfrm>
          <a:prstGeom prst="line">
            <a:avLst/>
          </a:prstGeom>
          <a:noFill/>
          <a:ln w="12700">
            <a:solidFill>
              <a:srgbClr val="0F1E3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98180" y="2651760"/>
            <a:ext cx="137160" cy="228600"/>
          </a:xfrm>
          <a:prstGeom prst="line">
            <a:avLst/>
          </a:prstGeom>
          <a:noFill/>
          <a:ln w="12700">
            <a:solidFill>
              <a:srgbClr val="0F1E3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0" y="29260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E36"/>
                </a:solidFill>
              </a:rPr>
              <a:t>Сотрудник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680960" y="2468880"/>
            <a:ext cx="457200" cy="0"/>
          </a:xfrm>
          <a:prstGeom prst="line">
            <a:avLst/>
          </a:prstGeom>
          <a:noFill/>
          <a:ln w="12700">
            <a:solidFill>
              <a:srgbClr val="0F1E36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UC-01: Создание обращения клиента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Характеристика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Детали сценария прецедента UC-01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Главный актор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клиента (Клиент)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Предусловия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 успешно прошел авторизацию OTP; активна форма 'Новое обращение'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Основной поток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Клиент выбирает конфигурацию 1С.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Указывает тему и описывает проблему.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Опционально прикрепляет файлы ошибок.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Нажимает 'Отправить'.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Альтернативы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Сбой валидации: поля подсвечиваются красным, отправка формы блокируется.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Постусловия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Создана запись в таблице tickets со статусом 'Новое'; создано событие в outbox.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UC-02: Чат в реальном времени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Характеристика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Детали сценария прецедента UC-02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Главные акторы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 и Специалист технической поддержки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Предусловия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 экран 'Детали обращения', установлено WebSocket-соединение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Основной поток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Пользователь вводит текст в поле чата.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Нажимает 'Отправить' (генерируется Idempotency-Key).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Сообщение мгновенно доставляется второй стороне по протоколу WS.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Сбой сети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WS разорван: сообщение сохраняется в LocalStorage и отправляется при реконнекте.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Постусловия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записано в БД с sync_status='synced', выведен статус доставки.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UC-03: Загрузка файлов в S3 MinIO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Характеристика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Детали сценария прецедента UC-03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Главный актор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клиента (Клиент)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Предусловия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Выбран файл для прикрепления в форме чата или создания тикета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Основной поток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Фронтенд запрашивает временную presigned-ссылку у бэкенда.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Бэкенд валидирует размер (&lt;10MB) и тип файла.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Фронтенд загружает файл методом PUT напрямую в S3 MinIO.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Альтернативы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Превышен размер: выдается предупреждение, загрузка отклоняется.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Постусловия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Файл успешно сохранен в S3 bucket, ссылка добавлена в таблицу attachments.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UC-04: Синхронизация обращений с 1С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Характеристика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Детали сценария прецедента UC-04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Главные акторы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синхронизации (Sync Service) и база 1С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Предусловия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PostgreSQL записана транзакция в таблицу outbox со статусом pending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Основной поток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Фоновый воркер каждые 5 секунд выбирает необработанные записи outbox.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Передает данные о тикетах в симулятор 1С.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При успешном ответе обновляет статус на 'processed'.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Ошибки связи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Сервер 1С недоступен: попытка откладывается, включается экспоненциальный таймаут.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Постусловия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Локальные обращения клиента синхронизированы с учетной базой компании.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Трассировка прецедентов на API-маршруты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2560320"/>
                <a:gridCol w="243230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Прецедент (Use Case)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HTTP-метод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Эндпоинт REST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Класс-валидатор Zod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UC-02: Создание обращения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/api/tickets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CreateTicketSchema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UC-04: Отправка сообщения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/api/tickets/:id/messages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SendMessageSchema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UC-05: Временный S3-доступ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/api/files/upload-request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UploadRequestSchema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UC-03: Получение списка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/api/tickets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GetTicketsQuerySchema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UC-10: Изменить статус тикета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/api/tickets/:id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UpdateTicketStatusSchema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Связь с приемочным тестированием (E2E)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Приёмочные сценарии Playwright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сценарии Use Cases покрыты приемочными сквозными тестами.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эмулирует клики пользователя, ввод текста и проверку UI-реакций.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Проверяется сквозная цепочка: от создания на фронте до записи в СУБД.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Интеграционные сквозные проверки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Outbox с базой 1С тестируется через моки API.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обработки сетевых разрывов при отправке чата WS.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Верификация корректности загрузки файлов на мок-сервер S3 (MinIO).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 по теме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3918204"/>
            <a:ext cx="8375904" cy="960120"/>
          </a:xfrm>
          <a:prstGeom prst="roundRect">
            <a:avLst>
              <a:gd name="adj" fmla="val 9524"/>
            </a:avLst>
          </a:prstGeom>
          <a:solidFill>
            <a:srgbClr val="0F1E36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918204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диаграммы прецедентов (Use Case Diagram) заложила надежный фундамент для всего проекта «Личный кабинет». Она позволила точно определить роли пользователей, выявить 10 важнейших прецедентов, спроектировать интеграционные потоки и связать требования бизнеса с техническими роутами API, автотестами и СУБД. Благодаря этому обеспечена согласованность требований на всех стадиях жизненного цикла разработки.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P1 — Диаграмма прецедентов</dc:title>
  <dc:subject>PptxGenJS Presentation</dc:subject>
  <dc:creator>Ломазина Александра, гр.22307</dc:creator>
  <cp:lastModifiedBy>Ломазина Александра, гр.22307</cp:lastModifiedBy>
  <cp:revision>1</cp:revision>
  <dcterms:created xsi:type="dcterms:W3CDTF">2026-06-24T11:04:15Z</dcterms:created>
  <dcterms:modified xsi:type="dcterms:W3CDTF">2026-06-24T11:04:15Z</dcterms:modified>
</cp:coreProperties>
</file>