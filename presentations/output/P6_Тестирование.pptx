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-822960"/>
            <a:ext cx="3200400" cy="3200400"/>
          </a:xfrm>
          <a:prstGeom prst="ellipse">
            <a:avLst/>
          </a:prstGeom>
          <a:solidFill>
            <a:srgbClr val="EA580C">
              <a:alpha val="20000"/>
            </a:srgbClr>
          </a:solidFill>
          <a:ln w="12700">
            <a:solidFill>
              <a:srgbClr val="EA580C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457200" y="3566160"/>
            <a:ext cx="2377440" cy="2377440"/>
          </a:xfrm>
          <a:prstGeom prst="ellipse">
            <a:avLst/>
          </a:prstGeom>
          <a:solidFill>
            <a:srgbClr val="FFEDD5">
              <a:alpha val="13000"/>
            </a:srgbClr>
          </a:solidFill>
          <a:ln w="12700">
            <a:solidFill>
              <a:srgbClr val="FFEDD5">
                <a:alpha val="1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749808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498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Тема 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8046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Тестирование ПО</a:t>
            </a:r>
            <a:endParaRPr lang="en-US" sz="2500" dirty="0"/>
          </a:p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Testing and QA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457200" y="336499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ТППО: «Личный кабинет для клиентов компании»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462272"/>
            <a:ext cx="9144000" cy="681228"/>
          </a:xfrm>
          <a:prstGeom prst="rect">
            <a:avLst/>
          </a:prstGeom>
          <a:solidFill>
            <a:srgbClr val="0A1424"/>
          </a:solidFill>
          <a:ln w="12700">
            <a:solidFill>
              <a:srgbClr val="0A14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462272"/>
            <a:ext cx="8229600" cy="6812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B9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Выполнила: Ломазина А., гр.22307   |   Руководитель: Корзун Д.Ж.   |   ИМИТ ПетрГУ, 2024/25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Роль обеспечения качества (QA)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Верификация vs Валидация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(Верификация): 'Создаем ли мы продукт правильно?' Сверка со спецификацией, стандартами и ТЗ.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(Валидация): 'Создаем ли мы ПРАВИЛЬНЫЙ продукт?' Соответствует ли система потребностям реального пользователя.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Преимущества автоматизации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Быстрый регресс: тесты запускаются за секунды на каждый коммит.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Стабильность: предотвращение старых багов при добавлении фич.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Живая документация: тесты описывают реальное поведение API.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Пирамида тестирования в client-portal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2731008" cy="4119372"/>
          </a:xfrm>
          <a:prstGeom prst="roundRect">
            <a:avLst>
              <a:gd name="adj" fmla="val 3348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32688"/>
            <a:ext cx="24566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Unit Tests (Юнит-тесты)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21208" y="1325880"/>
            <a:ext cx="2456688" cy="3479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Нижний уровень пирамиды. Изолированное тестирование чистых функций, валидаторов схем Zod, утилит форматирования данных. Пишутся на Jest. Скорость выполнения — максимальная.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206496" y="822960"/>
            <a:ext cx="2731008" cy="4119372"/>
          </a:xfrm>
          <a:prstGeom prst="roundRect">
            <a:avLst>
              <a:gd name="adj" fmla="val 3348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343656" y="932688"/>
            <a:ext cx="24566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Integration Tests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43656" y="1325880"/>
            <a:ext cx="2456688" cy="3479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 уровень. Тестирование взаимодействия Express-контроллеров, репозиториев Drizzle и базы PostgreSQL. Проверяется правильность транзакций, каскадного удаления и триггеров.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028944" y="822960"/>
            <a:ext cx="2731008" cy="4119372"/>
          </a:xfrm>
          <a:prstGeom prst="roundRect">
            <a:avLst>
              <a:gd name="adj" fmla="val 3348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166104" y="932688"/>
            <a:ext cx="24566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E2E / Acceptance Tests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66104" y="1325880"/>
            <a:ext cx="2456688" cy="3479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Верхний уровень. Полная эмуляция реальных действий пользователя в браузере с помощью Playwright. Проверяются сквозные бизнес-цепочки от логина до закрытия заявки.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Testing: Модульные тесты с Jest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3474720" cy="4119372"/>
          </a:xfrm>
          <a:prstGeom prst="roundRect">
            <a:avLst>
              <a:gd name="adj" fmla="val 2632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326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Сущность юнит-тестов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1208" y="1325880"/>
            <a:ext cx="3200400" cy="33878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Тестируют код без сетевых вызовов и обращений к дискам.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Проверяют граничные условия валидации Zod-схем.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Позволяют моментально проверить регулярные выражения для валидации номеров телефонов.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Базируются на фреймворке Jest и TS-Jest.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33088" y="822960"/>
            <a:ext cx="4626864" cy="4119372"/>
          </a:xfrm>
          <a:prstGeom prst="roundRect">
            <a:avLst>
              <a:gd name="adj" fmla="val 1776"/>
            </a:avLst>
          </a:prstGeom>
          <a:solidFill>
            <a:srgbClr val="0B132B"/>
          </a:solidFill>
          <a:ln w="12700">
            <a:solidFill>
              <a:srgbClr val="1E40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70248" y="905256"/>
            <a:ext cx="4352544" cy="3954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CreateTicketSchema } from './validation';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describe('CreateTicketSchema Unit Tests', () =&gt; {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it('should accept valid ticket details', () =&gt; {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data = { title: '1C ERP crash', description: 'DB error 109' };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expect(CreateTicketSchema.safeParse(data).success).toBe(true);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it('should reject short descriptions', () =&gt; {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data = { title: '1C ERP crash', description: 'short' };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expect(CreateTicketSchema.safeParse(data).success).toBe(false);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 Testing: Интеграционные тесты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3474720" cy="4119372"/>
          </a:xfrm>
          <a:prstGeom prst="roundRect">
            <a:avLst>
              <a:gd name="adj" fmla="val 2632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326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Сущность интеграции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1208" y="1325880"/>
            <a:ext cx="3200400" cy="33878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Проверяют корректность склейки роутеров, middleware и контроллеров.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Тестируют реальный обмен данными с тестовой PostgreSQL СУБД.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Эмулируют HTTP-запросы с помощью Supertest.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Гарантируют работоспособность роутов безопасности.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33088" y="822960"/>
            <a:ext cx="4626864" cy="4119372"/>
          </a:xfrm>
          <a:prstGeom prst="roundRect">
            <a:avLst>
              <a:gd name="adj" fmla="val 1776"/>
            </a:avLst>
          </a:prstGeom>
          <a:solidFill>
            <a:srgbClr val="0B132B"/>
          </a:solidFill>
          <a:ln w="12700">
            <a:solidFill>
              <a:srgbClr val="1E40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70248" y="905256"/>
            <a:ext cx="4352544" cy="3954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request from 'supertest';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app from './app';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describe('GET /api/tickets Integration', () =&gt; {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it('should fail if user is unauthorized', async () =&gt; {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res = await request(app)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.get('/api/tickets')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.expect(401);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expect(res.body.error).toBe('Unauthorized');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E2E: Сквозное приёмочное тестирование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Проектируемые E2E сценарии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проекта разработан и настроен шаблон сквозного E2E-тестирования в Playwright. Ввиду раздельного развертывания подсистем фронтенда и бэкенда, сквозные приемочные тесты будут полноценно активированы в CI/CD в фазе финальной сборки. На текущем этапе качество гарантировано модульными и API-тестами.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Шаблон сценария в Playwright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Шаблон запускает браузер и открывает `/login`.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Эмулирует ввод телефона и SMS OTP (мок-код 111111).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Переходит в раздел 'Создать обращение'.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Описывает проблему техподдержки 1С, нажимает кнопку 'Отправить'.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Сверяет статус создания в интерфейсе и СУБД.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Готов к полному запуску при интеграции фронтенда.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Нагрузочное тестирование: Сценарии Artillery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3474720" cy="4119372"/>
          </a:xfrm>
          <a:prstGeom prst="roundRect">
            <a:avLst>
              <a:gd name="adj" fmla="val 2632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326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Проектирование нагрузки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1208" y="1325880"/>
            <a:ext cx="3200400" cy="33878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Инструмент Artillery позволяет генерировать сотни запросов в секунду (RPS).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Мы эмулируем реальное поведение 100 одновременных клиентов техподдержки.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Измеряются задержки ответов (Latency: p95, p99).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Верифицируется отсутствие ошибок 502/504.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33088" y="822960"/>
            <a:ext cx="4626864" cy="4119372"/>
          </a:xfrm>
          <a:prstGeom prst="roundRect">
            <a:avLst>
              <a:gd name="adj" fmla="val 1776"/>
            </a:avLst>
          </a:prstGeom>
          <a:solidFill>
            <a:srgbClr val="0B132B"/>
          </a:solidFill>
          <a:ln w="12700">
            <a:solidFill>
              <a:srgbClr val="1E40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70248" y="905256"/>
            <a:ext cx="4352544" cy="3954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target: 'http://localhost:3000'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phases: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duration: 60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arrivalRate: 5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rampTo: 50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name: 'Ramping load'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scenarios: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'Check tickets and chat'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flow: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get: { url: '/api/tickets' }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post: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url: '/api/messages'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json: { text: 'Performance test message' }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Тестирование безопасности: Аудит уязвимостей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Основные векторы по OWASP Top 10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SQL Injection: автоматические тесты шлют в API кавычки и специальные конструкции вроде `' OR 1=1 --`. Использование Drizzle параметризации гарантирует 100% защиту.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Broken Authentication: проверка блокировки сессий при передаче истекших или сломанных JWT-токенов.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Защита файлов и утечек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Приватность вложений: тесты проверяют, что клиент Б не сможет прочитать вложения клиента А по прямой ссылке, так как S3 presigned-ссылки привязаны к сессиям конкретного пользователя.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Маскирование паролей и логов: автоматический тест проверяет, что в логи NodeJS не улетают хэши и токены.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Отказоустойчивость: тестирование синка 1С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Проверка сценариев разрыва сети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Специальный интеграционный тест эмулирует временное отключение симулятора 1С (имитация сбоя связи в ООО 'Неосистемы'). Воркер outbox должен зафиксировать сбой связи, перевести событие в статус `failed` и запустить таймер повторных отложенных попыток.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Проверка целостности очереди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Тест гарантирует, что ни один тикет не продублируется в 1С дважды при повторных синк-попытках (проверка идемпотентности).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Контроль порядка: тесты проверяют, что сообщения чата приходят в 1С в хронологическом порядке, даже если отправка зависала из-за разрывов связи.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Мокирование внешних систем в тестах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Мок-клиент для MinIO S3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Тесты запускаются в среде, где реальное облачное хранилище недоступно. Мы используем библиотеку `mock-aws-s3`. Все методы `putObject` и `getSignedUrl` перехватываются, сохраняя файлы во временной оперативной памяти NodeJS, что ускоряет тесты и экономит трафик.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Мок симулятора 1С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Вместо запуска тяжелой базы 1С в Docker, тесты шлют запросы на легковесную Express-заглушку (mock-server).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Заглушка настроена на генерацию детерминированных ответов: успех (200 OK), задержка (504 Timeout) или сбой данных (400 Bad Request) по требованию тест-кейса.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Метрики качества: Анализ покрытия (Coverage)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измеряет утилита Jest Coverage?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Statement Coverage — какой процент строк кода был исполнен.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Branch Coverage — пройдены ли все условия ветвления (`if-else` блоки).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Function Coverage — вызваны ли все объявленные функции.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Line Coverage — количество выполненных физических строк кода.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Целевые показатели качества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Общее покрытие операторов (statements) во всём проекте установлено на уровне не менее 80%.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Покрытие критических модулей бизнес-логики (TicketService, MessageService) — не менее 90%.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При падении суммарного покрытия ниже 80% сборка проекта в CI/CD автоматически ломается, предотвращая выкат непроверенного кода в прод.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Автоматизация: CI/CD пайплайн в GitHub Actions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3474720" cy="4119372"/>
          </a:xfrm>
          <a:prstGeom prst="roundRect">
            <a:avLst>
              <a:gd name="adj" fmla="val 2632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326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Непрерывная интеграция (CI)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1208" y="1325880"/>
            <a:ext cx="3200400" cy="33878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Разработчики не могут залить код в ветку `main` без прохождения тестов.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GitHub Actions автоматически разворачивает чистую среду Node.js.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Устанавливает зависимости из lock-файла.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Запускает линтер ESLint, сборщик и прогоняет модульные и интеграционные тесты Jest.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33088" y="822960"/>
            <a:ext cx="4626864" cy="4119372"/>
          </a:xfrm>
          <a:prstGeom prst="roundRect">
            <a:avLst>
              <a:gd name="adj" fmla="val 1776"/>
            </a:avLst>
          </a:prstGeom>
          <a:solidFill>
            <a:srgbClr val="0B132B"/>
          </a:solidFill>
          <a:ln w="12700">
            <a:solidFill>
              <a:srgbClr val="1E40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70248" y="905256"/>
            <a:ext cx="4352544" cy="3954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Continuous Integration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pull_request: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branches: [ main ]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jobs: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runs-on: ubuntu-latest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steps: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uses: actions/checkout@v3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uses: actions/setup-node@v3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npm ci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npm run lint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npm run test:coverage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npm run build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Локальная тестовая песочница Docker Compose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Оркестрация тестовой среды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запуска полноценных интеграционных и E2E тестов разработчику не нужно вручную настраивать базы данных на компьютере. Вся инфраструктура разворачивается одной командой `docker-compose -f docker-compose.test.yml up -d`.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Тестовые контейнеры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`test-db` — СУБД PostgreSQL с автоматически накатаными тестовыми схемами.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`test-s3` — легковесный MinIO для бинарных файлов.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`mock-1c` — симулятор учетной системы компании.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Контейнеры полностью изолированы от боевой среды и автоматически очищаются после прогона тестов.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Выводы по теме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3918204"/>
            <a:ext cx="8375904" cy="960120"/>
          </a:xfrm>
          <a:prstGeom prst="roundRect">
            <a:avLst>
              <a:gd name="adj" fmla="val 9524"/>
            </a:avLst>
          </a:prstGeom>
          <a:solidFill>
            <a:srgbClr val="0F1E36"/>
          </a:solidFill>
          <a:ln w="12700">
            <a:solidFill>
              <a:srgbClr val="0F1E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918204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Автоматизированное тестирование в проекте «Личный кабинет» — это не просто поиск багов, а ключевое условие стабильности бизнес-процессов компании ООО «Неосистемы Северо-Запад». Внедрение пирамиды тестов (юнит, интеграция, сквозной Playwright, нагрузочный Artillery) и строгого контроля покрытия в CI/CD гарантирует бесперебойную работу личного кабинета, безопасность персональных данных клиентов и надежность синхронизации с базой 1С.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P6 — Тестирование ПО</dc:title>
  <dc:subject>PptxGenJS Presentation</dc:subject>
  <dc:creator>Ломазина Александра, гр.22307</dc:creator>
  <cp:lastModifiedBy>Ломазина Александра, гр.22307</cp:lastModifiedBy>
  <cp:revision>1</cp:revision>
  <dcterms:created xsi:type="dcterms:W3CDTF">2026-06-24T11:04:15Z</dcterms:created>
  <dcterms:modified xsi:type="dcterms:W3CDTF">2026-06-24T11:04:15Z</dcterms:modified>
</cp:coreProperties>
</file>