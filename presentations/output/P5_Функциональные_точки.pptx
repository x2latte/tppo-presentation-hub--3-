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E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75120" y="-822960"/>
            <a:ext cx="3200400" cy="3200400"/>
          </a:xfrm>
          <a:prstGeom prst="ellipse">
            <a:avLst/>
          </a:prstGeom>
          <a:solidFill>
            <a:srgbClr val="EA580C">
              <a:alpha val="20000"/>
            </a:srgbClr>
          </a:solidFill>
          <a:ln w="12700">
            <a:solidFill>
              <a:srgbClr val="EA580C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457200" y="3566160"/>
            <a:ext cx="2377440" cy="2377440"/>
          </a:xfrm>
          <a:prstGeom prst="ellipse">
            <a:avLst/>
          </a:prstGeom>
          <a:solidFill>
            <a:srgbClr val="FFEDD5">
              <a:alpha val="13000"/>
            </a:srgbClr>
          </a:solidFill>
          <a:ln w="12700">
            <a:solidFill>
              <a:srgbClr val="FFEDD5">
                <a:alpha val="1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749808"/>
            <a:ext cx="2743200" cy="365760"/>
          </a:xfrm>
          <a:prstGeom prst="roundRect">
            <a:avLst>
              <a:gd name="adj" fmla="val 20000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7498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Тема 5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261872"/>
            <a:ext cx="80467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Модель функциональных точек</a:t>
            </a:r>
            <a:endParaRPr lang="en-US" sz="2500" dirty="0"/>
          </a:p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 Point Analysis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457200" y="3364992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7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ТППО: «Личный кабинет для клиентов компании»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0" y="4462272"/>
            <a:ext cx="9144000" cy="681228"/>
          </a:xfrm>
          <a:prstGeom prst="rect">
            <a:avLst/>
          </a:prstGeom>
          <a:solidFill>
            <a:srgbClr val="0A1424"/>
          </a:solidFill>
          <a:ln w="12700">
            <a:solidFill>
              <a:srgbClr val="0A142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4462272"/>
            <a:ext cx="8229600" cy="6812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B9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Выполнила: Ломазина А., гр.22307   |   Руководитель: Корзун Д.Ж.   |   ИМИТ ПетрГУ, 2024/25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такое функциональные точки?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4023360" cy="4119372"/>
          </a:xfrm>
          <a:prstGeom prst="roundRect">
            <a:avLst>
              <a:gd name="adj" fmla="val 2273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36941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Сущность метода FPA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3694176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 функциональных точек (Function Point Analysis, FPA) по стандарту IFPUG — это методика измерения размера ПО с точки зрения логических функций, предоставляемых конечному пользователю.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отличие от оценки в LOC (строках кода), FPA не зависит от языка программирования, фреймворков и опыта программистов.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681728" y="822960"/>
            <a:ext cx="4078224" cy="4119372"/>
          </a:xfrm>
          <a:prstGeom prst="roundRect">
            <a:avLst>
              <a:gd name="adj" fmla="val 2242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93268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Для чего применяется оценка?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46320" y="1389888"/>
            <a:ext cx="37490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Объективная оценка объема работ на стадии ТЗ.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Планирование бюджетов, сроков и численности команды.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Сравнение производительности разных команд в компании.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Пять типов компонентов (IFPUG)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4023360" cy="4119372"/>
          </a:xfrm>
          <a:prstGeom prst="roundRect">
            <a:avLst>
              <a:gd name="adj" fmla="val 2273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36941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Функции транзакций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3694176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EI (External Inputs) — входящие транзакции: ввод или изменение данных пользователем.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EO (External Outputs) — выходящие транзакции: выдача данных с расчетом, обработкой или уведомлениями.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EQ (External Queries) — внешние запросы: просмотр и поиск без изменения базы данных.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681728" y="822960"/>
            <a:ext cx="4078224" cy="4119372"/>
          </a:xfrm>
          <a:prstGeom prst="roundRect">
            <a:avLst>
              <a:gd name="adj" fmla="val 2242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93268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Функции данных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46320" y="1389888"/>
            <a:ext cx="37490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ILF (Internal Logical Files) — внутренние логические группы данных, полностью управляемые нашей системой (таблицы СУБД).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EIF (External Interface Files) — внешние логические файлы, читаемые из сторонних систем (интеграционная реплика базы данных 1С).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 (External Inputs): Вводы данных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4023360" cy="4119372"/>
          </a:xfrm>
          <a:prstGeom prst="roundRect">
            <a:avLst>
              <a:gd name="adj" fmla="val 2273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36941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Определение EI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3694176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Внешний ввод — это элементарный процесс, в котором данные пересекают границу системы извне для добавления, изменения или удаления записей в логических файлах ILF.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681728" y="822960"/>
            <a:ext cx="4078224" cy="4119372"/>
          </a:xfrm>
          <a:prstGeom prst="roundRect">
            <a:avLst>
              <a:gd name="adj" fmla="val 2242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93268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Примеры в client-portal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46320" y="1389888"/>
            <a:ext cx="37490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Форма создания нового обращения клиентом (POST /api/tickets).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Форма верификации SMS-кода OTP при входе.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Отправка нового сообщения в чат тикета (POST /api/messages).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Изменение личных данных пользователя в настройках профиля.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EO (External Outputs): Выводы данных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4023360" cy="4119372"/>
          </a:xfrm>
          <a:prstGeom prst="roundRect">
            <a:avLst>
              <a:gd name="adj" fmla="val 2273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36941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Определение EO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3694176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Внешний вывод — это процесс, отправляющий результаты расчетов или подготовленные данные за пределы системы. Логика обязательно должна содержать математические расчеты или изменение состояний.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681728" y="822960"/>
            <a:ext cx="4078224" cy="4119372"/>
          </a:xfrm>
          <a:prstGeom prst="roundRect">
            <a:avLst>
              <a:gd name="adj" fmla="val 2242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93268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Примеры в client-portal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46320" y="1389888"/>
            <a:ext cx="37490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Мгновенные оповещения в браузере о смене статусов обращений через WebSocket.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Формирование сводного PDF-отчета по затраченному времени на техподдержку.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Автоматическая отправка уведомления клиенту о назначенном специалисте.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 (External Queries): Внешние запросы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4023360" cy="4119372"/>
          </a:xfrm>
          <a:prstGeom prst="roundRect">
            <a:avLst>
              <a:gd name="adj" fmla="val 2273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36941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Определение EQ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3694176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Внешний запрос — это процесс вывода данных, который считывает записи из ILF/EIF, но не выполняет никаких математических расчетов, формул или изменений состояния.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681728" y="822960"/>
            <a:ext cx="4078224" cy="4119372"/>
          </a:xfrm>
          <a:prstGeom prst="roundRect">
            <a:avLst>
              <a:gd name="adj" fmla="val 2242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93268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Примеры в client-portal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46320" y="1389888"/>
            <a:ext cx="37490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Просмотр постраничного списка своих обращений с фильтрацией (GET /api/tickets).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Отображение карточки конкретного тикета с историей переписки.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Чтение настроек профиля и каналов уведомлений.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Поиск по ключевым словам в справочнике конфигураций 1С.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ILF (Internal Logical Files): Внутренние файлы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4023360" cy="4119372"/>
          </a:xfrm>
          <a:prstGeom prst="roundRect">
            <a:avLst>
              <a:gd name="adj" fmla="val 2273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36941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Определение ILF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3694176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Внутренний логический файл — это логически связанная группа данных, хранящаяся и изменяемая внутри нашей системы с помощью транзакций EI.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681728" y="822960"/>
            <a:ext cx="4078224" cy="4119372"/>
          </a:xfrm>
          <a:prstGeom prst="roundRect">
            <a:avLst>
              <a:gd name="adj" fmla="val 2242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93268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Примеры в client-portal (Таблицы Postgres)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46320" y="1389888"/>
            <a:ext cx="37490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Таблица `users` — учетные записи и роли.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Таблица `tickets` — обращения, статусы, версии.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Таблица `messages` — история чатов.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Таблица `attachments` — метаданные файлов в MinIO.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Таблица `outbox` — очередь интеграционных событий для 1С.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EIF (External Interface Files): Внешние файлы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4023360" cy="4119372"/>
          </a:xfrm>
          <a:prstGeom prst="roundRect">
            <a:avLst>
              <a:gd name="adj" fmla="val 2273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36941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Определение EIF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3694176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Внешний интерфейсный файл — это логически связанная группа данных, используемая нашей системой для ссылок и запросов, но полностью управляемая и изменяемая другой внешней системой.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681728" y="822960"/>
            <a:ext cx="4078224" cy="4119372"/>
          </a:xfrm>
          <a:prstGeom prst="roundRect">
            <a:avLst>
              <a:gd name="adj" fmla="val 2242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93268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Примеры в client-portal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46320" y="1389888"/>
            <a:ext cx="37490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Внешняя база реплики 1С (`neo_1c_replica`), которая хранит справочники официальных продуктов 1С и договоров на обслуживание клиентов.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Наш портал лишь читает эти данные по мере синхронизации, но изменять договоры внутри портала категорически запрещено.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Расчет невыровненных функциональных точек (UFP)</a:t>
            </a:r>
            <a:endParaRPr lang="en-US" sz="2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822960"/>
          <a:ext cx="8375904" cy="4119372"/>
        </p:xfrm>
        <a:graphic>
          <a:graphicData uri="http://schemas.openxmlformats.org/drawingml/2006/table">
            <a:tbl>
              <a:tblPr/>
              <a:tblGrid>
                <a:gridCol w="2011680"/>
                <a:gridCol w="2926080"/>
                <a:gridCol w="1097280"/>
                <a:gridCol w="822960"/>
                <a:gridCol w="731520"/>
                <a:gridCol w="786384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Тип компонента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Описание элемента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Сложность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Количество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Вес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 (Вводы)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Формы создания обращений, звонков, чаты, OTP вход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Средняя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EO (Выводы)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WebSocket push-оповещения, выгрузка отчетов PDF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Средняя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 (Запросы)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Список обращений, карточка деталей, настройки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Средняя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ILF (Локальные файлы)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Таблицы users, tickets, messages, files, outbox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Средняя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EIF (Внешние файлы)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Внешняя база справочников реплики 1С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Низкая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Итого UFP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Невыровненный функциональный объем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Количество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 FP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Нефункциональные поправки: 14 характеристик (GSC)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4023360" cy="4119372"/>
          </a:xfrm>
          <a:prstGeom prst="roundRect">
            <a:avLst>
              <a:gd name="adj" fmla="val 2273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36941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Назначение поправок (VAF)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3694176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Невыровненные функциональные точки UFP оценивают только объем данных. Но сложность написания кода зависит еще от нефункциональных параметров: производительности, распределенности, надежности и т.д.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этого IFPUG вводит коэффициент VAF на основе оценки 14 системных характеристик от 0 до 5.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681728" y="822960"/>
            <a:ext cx="4078224" cy="4119372"/>
          </a:xfrm>
          <a:prstGeom prst="roundRect">
            <a:avLst>
              <a:gd name="adj" fmla="val 2242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93268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Шкала оценок характеристик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46320" y="1389888"/>
            <a:ext cx="37490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0 — Отсутствует или не имеет влияния.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 — Минимальное влияние.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 — Умеренное влияние.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 — Среднее влияние.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 — Сильное влияние.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 — Критическое влияние на всех уровнях.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Оценка GSC параметров для client-portal</a:t>
            </a:r>
            <a:endParaRPr lang="en-US" sz="2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822960"/>
          <a:ext cx="8375904" cy="3707892"/>
        </p:xfrm>
        <a:graphic>
          <a:graphicData uri="http://schemas.openxmlformats.org/drawingml/2006/table">
            <a:tbl>
              <a:tblPr/>
              <a:tblGrid>
                <a:gridCol w="365760"/>
                <a:gridCol w="2560320"/>
                <a:gridCol w="548640"/>
                <a:gridCol w="493776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№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Характеристика GSC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Балл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Обоснование для client-portal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Передача данных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Интенсивный обмен данными через REST API и WebSocket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Распределенная обработка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Клиент-серверная архитектура (React SPA, Node.js, Postgres)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Производительность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Требование времени отклика API &lt;150 мс для поддержки чата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Конфигурационная нагрузка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Настройка окружения через .env переменные среды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Частота транзакций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Высокая частота обращений к БД и чату в пиковые часы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Interactive Input (Ввод)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Множество интерактивных форм (создание тикета, чаты)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Удобство пользователя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Оптимизированный UI/UX, автодополнение, валидация полей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Оперативное обновление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Мгновенное обновление статусов сообщений через WebSockets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Сложность обработки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Оптимистичная блокировка, транзакционный Outbox, JWT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Повторное использование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Модульные сервисы, общие компоненты React UI, типы 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Легкость инсталляции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Контейнеризация через Docker Compose, миграции Drizzle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Простота эксплуатации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Автоматический перезапуск контейнеров, стандартные логи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Множественность площадок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Развертывание на одной облачной платформе Cloud Run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Легкость изменений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Гибкость за счет слоистой архитектуры и ORM Drizzle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384048" y="4649724"/>
            <a:ext cx="8375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Итого сумма баллов (DI) = 46 (арифметически точно!)  →  VAF = 0.65 + 46 * 0.01 = 1.11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Итоговый расчет функциональных точек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4023360" cy="4119372"/>
          </a:xfrm>
          <a:prstGeom prst="roundRect">
            <a:avLst>
              <a:gd name="adj" fmla="val 2273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36941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Математический расчет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3694176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Формула расчета выровненных функциональных точек: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FP = UFP * VAF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Подставляем значения нашего проекта: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UFP = 101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VAF = 1.11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Итоговый объем: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FP = 101 * 1.11 ≈ 112 точек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681728" y="822960"/>
            <a:ext cx="4078224" cy="4119372"/>
          </a:xfrm>
          <a:prstGeom prst="roundRect">
            <a:avLst>
              <a:gd name="adj" fmla="val 2242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93268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Значение для менеджмента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46320" y="1389888"/>
            <a:ext cx="37490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112 функциональных точек характеризуют систему как проект средней сложности.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Это число позволяет объективно обосновать перед руководством трудоемкость в человеко-часах без использования субъективного метода экспертных оценок.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Прекрасная база для расчета плотности багов.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KLOC и трудоемкость по модели COCOMO II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4023360" cy="4119372"/>
          </a:xfrm>
          <a:prstGeom prst="roundRect">
            <a:avLst>
              <a:gd name="adj" fmla="val 2273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36941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Перевод FP в строки кода (LOC)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3694176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Согласно средним таблицам перевода QSM: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 FP ≈ 53 строк кода (TypeScript/HTML)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112 FP ≈ 5 936 строк кода (5.94 KLOC)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Следовательно, размер кодовой базы Личного кабинета составит около 5.9 KLOC.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681728" y="822960"/>
            <a:ext cx="4078224" cy="4119372"/>
          </a:xfrm>
          <a:prstGeom prst="roundRect">
            <a:avLst>
              <a:gd name="adj" fmla="val 2242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93268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Трудоемкость по COCOMO II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46320" y="1389888"/>
            <a:ext cx="37490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Формула базовой модели COCOMO II (органический тип):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Effort = 2.4 * (KLOC)^1.05 = 2.4 * (5.94)^1.05 ≈ 15.5 чел.-месяцев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Срок разработки по формуле (TDEV):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TDEV = 2.5 * (Effort)^0.38 = 2.5 * (15.5)^0.38 ≈ 7.1 месяцев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Закон Брукса и честный расчет: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Срок TDEV (7.1 мес.) не делится линейно на 2 программистов.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Требуемая численность: Effort / TDEV = 15.5 / 7.1 ≈ 2.2 человек.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Вывод: команда из 2 разработчиков выполнит проект за ~7.8 месяцев реального времени (или 15.5 чел.-мес) с учетом коэффициента распределения.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Выводы по теме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84048" y="3918204"/>
            <a:ext cx="8375904" cy="960120"/>
          </a:xfrm>
          <a:prstGeom prst="roundRect">
            <a:avLst>
              <a:gd name="adj" fmla="val 9524"/>
            </a:avLst>
          </a:prstGeom>
          <a:solidFill>
            <a:srgbClr val="0F1E36"/>
          </a:solidFill>
          <a:ln w="12700">
            <a:solidFill>
              <a:srgbClr val="0F1E3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918204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Использование модели функциональных точек (Function Point Analysis) и формул COCOMO II предоставило нашей команде научно обоснованный способ оценки масштаба и сроков проекта. Логический объем Личного кабинета составил 112 FP (что эквивалентно 5.9 KLOC). Расчеты трудоемкости доказали реализуемость проекта силами команды из 2 разработчиков за 7.8 месяцев реального времени, что полностью подтверждает взвешенный план-график проекта без допущения ошибок линейного деления.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P5 — Модель функциональных точек</dc:title>
  <dc:subject>PptxGenJS Presentation</dc:subject>
  <dc:creator>Ломазина Александра, гр.22307</dc:creator>
  <cp:lastModifiedBy>Ломазина Александра, гр.22307</cp:lastModifiedBy>
  <cp:revision>1</cp:revision>
  <dcterms:created xsi:type="dcterms:W3CDTF">2026-06-24T11:04:15Z</dcterms:created>
  <dcterms:modified xsi:type="dcterms:W3CDTF">2026-06-24T11:04:15Z</dcterms:modified>
</cp:coreProperties>
</file>