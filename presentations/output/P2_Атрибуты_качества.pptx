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822960"/>
            <a:ext cx="3200400" cy="3200400"/>
          </a:xfrm>
          <a:prstGeom prst="ellipse">
            <a:avLst/>
          </a:prstGeom>
          <a:solidFill>
            <a:srgbClr val="EA580C">
              <a:alpha val="20000"/>
            </a:srgbClr>
          </a:solidFill>
          <a:ln w="12700">
            <a:solidFill>
              <a:srgbClr val="EA580C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566160"/>
            <a:ext cx="2377440" cy="2377440"/>
          </a:xfrm>
          <a:prstGeom prst="ellipse">
            <a:avLst/>
          </a:prstGeom>
          <a:solidFill>
            <a:srgbClr val="FFEDD5">
              <a:alpha val="13000"/>
            </a:srgbClr>
          </a:solidFill>
          <a:ln w="12700">
            <a:solidFill>
              <a:srgbClr val="FFEDD5">
                <a:alpha val="1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749808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498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Атрибуты качества для разработчиков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Developer-Oriented Quality Attributes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57200" y="33649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ТППО: «Личный кабинет для клиентов компании»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462272"/>
            <a:ext cx="9144000" cy="681228"/>
          </a:xfrm>
          <a:prstGeom prst="rect">
            <a:avLst/>
          </a:prstGeom>
          <a:solidFill>
            <a:srgbClr val="0A1424"/>
          </a:solidFill>
          <a:ln w="12700">
            <a:solidFill>
              <a:srgbClr val="0A14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462272"/>
            <a:ext cx="8229600" cy="6812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B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Выполнила: Ломазина А., гр.22307   |   Руководитель: Корзун Д.Ж.   |   ИМИТ ПетрГУ, 2024/25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Атрибуты качества: пользователь vs разработчик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4023360" cy="4119372"/>
          </a:xfrm>
          <a:prstGeom prst="roundRect">
            <a:avLst>
              <a:gd name="adj" fmla="val 2273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3694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видит конечный пользователь?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3694176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Простоту и отзывчивость интерфейса (Usability).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Высокую скорость отклика системы (Performance).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Постоянную доступность без сбоев (Uptime / Reliability).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681728" y="822960"/>
            <a:ext cx="4078224" cy="4119372"/>
          </a:xfrm>
          <a:prstGeom prst="roundRect">
            <a:avLst>
              <a:gd name="adj" fmla="val 2242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93268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важно инженеру и архитектору?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1389888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Модульность: легкое разделение на изолированные блоки.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Тестируемость: простое написание автотестов.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Поддерживаемость и расширяемость кодовой базы.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Ключевые атрибуты качества в проекте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4096512" cy="1312164"/>
          </a:xfrm>
          <a:prstGeom prst="roundRect">
            <a:avLst>
              <a:gd name="adj" fmla="val 6969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21208" y="896112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Модульность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21208" y="1207008"/>
            <a:ext cx="3822192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Строгое разделение ответственности слоев (REST, Services, DB) для снижения зацепления (coupling).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663440" y="822960"/>
            <a:ext cx="4096512" cy="1312164"/>
          </a:xfrm>
          <a:prstGeom prst="roundRect">
            <a:avLst>
              <a:gd name="adj" fmla="val 6969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00600" y="896112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Тестируемость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00600" y="1207008"/>
            <a:ext cx="3822192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Возможность легкого модульного, интеграционного и нагрузочного автоматического тестирования.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048" y="2226564"/>
            <a:ext cx="4096512" cy="1312164"/>
          </a:xfrm>
          <a:prstGeom prst="roundRect">
            <a:avLst>
              <a:gd name="adj" fmla="val 6969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21208" y="2299716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Читаемость/Поддерживаемость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" y="2610612"/>
            <a:ext cx="3822192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Единообразие структуры кода, строгая типизация и самодокументируемость.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2226564"/>
            <a:ext cx="4096512" cy="1312164"/>
          </a:xfrm>
          <a:prstGeom prst="roundRect">
            <a:avLst>
              <a:gd name="adj" fmla="val 6969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2299716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Расширяемость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2610612"/>
            <a:ext cx="3822192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Слабая связанность модулей позволяет быстро добавлять новые типы услуг и уведомлений.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4048" y="3630168"/>
            <a:ext cx="4096512" cy="1312164"/>
          </a:xfrm>
          <a:prstGeom prst="roundRect">
            <a:avLst>
              <a:gd name="adj" fmla="val 6969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1208" y="3703320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Безопасность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" y="4014216"/>
            <a:ext cx="3822192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Надежная авторизация, разграничение прав и защита от внедрения вредоносного кода.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Целевые количественные метрики качества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822960"/>
          <a:ext cx="8375904" cy="4119372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1920240"/>
                <a:gridCol w="1700784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Атрибут качества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Количественная метрика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Целевое значение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Способ контроля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Модульность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Размер модуля (строк кода / SLOC)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250 строк на файл / класс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Линтер (ESLint max-lines)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Тестируемость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Покрытие операторов кодовой базы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80% (для бизнес-логики)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Jest Coverage Report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Производительность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Время отклика API (95-й процентиль)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150 мс под нагрузкой 50 rps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Artillery Load Test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Надежность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Время доступности сервиса (Uptime)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99.9% годового аптайма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UptimeRobot / Promtail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Безопасность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Критические уязвимости в зависимостях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уязвимостей (High / Critical)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 audit / Snyk CI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Модульность: структура директорий бэкенда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3474720" cy="4119372"/>
          </a:xfrm>
          <a:prstGeom prst="roundRect">
            <a:avLst>
              <a:gd name="adj" fmla="val 2632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21208" y="9326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Преимущества структуры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21208" y="1325880"/>
            <a:ext cx="3200400" cy="33878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Разделение ответственности слоев.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Эндпоинты (routes) не содержат сырых запросов к SQL.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Вся бизнес-логика вынесена в сервисы (services).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Доступ к СУБД изолирован в слое миграций и репозиториев (db).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33088" y="822960"/>
            <a:ext cx="4626864" cy="4119372"/>
          </a:xfrm>
          <a:prstGeom prst="roundRect">
            <a:avLst>
              <a:gd name="adj" fmla="val 1776"/>
            </a:avLst>
          </a:prstGeom>
          <a:solidFill>
            <a:srgbClr val="0B132B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70248" y="905256"/>
            <a:ext cx="4352544" cy="3954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ED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backend/src/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ED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routes/         # REST API эндпоинты (контроллеры)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ED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services/       # Бизнес-логика, воркеры, синк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ED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middleware/     # Аутентификация, Zod-валидация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ED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config/         # Подключения (Postgres, MinIO, 1C)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ED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db/             # Схемы Drizzle ORM, миграции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ED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types/          # Общие типы данных TypeScript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ED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└── index.ts        # Главный файл запуска сервера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Изоляция слоев и слабая связанность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4023360" cy="4119372"/>
          </a:xfrm>
          <a:prstGeom prst="roundRect">
            <a:avLst>
              <a:gd name="adj" fmla="val 2273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3694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Нарушение связанности (Плохой подход)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3694176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Роутер напрямую делает SQL-запрос `SELECT * FROM tickets`.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Смешивание логики авторизации и рендеринга.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Фронтенд обращается к базе данных напрямую.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Любые изменения в СУБД ломают клиентский код.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Сложно писать изолированные тесты, так как все связано.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81728" y="822960"/>
            <a:ext cx="4078224" cy="4119372"/>
          </a:xfrm>
          <a:prstGeom prst="roundRect">
            <a:avLst>
              <a:gd name="adj" fmla="val 2242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93268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Разделение слоев (Хороший подход)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1389888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Контроллер лишь принимает запрос и отдает ответ.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Бизнес-логика живет в `TicketService`.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Работа с Postgres идет через `Drizzle` репозиторий.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Интеграция с 1С асинхронна через outbox-очередь.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Любой слой можно легко заменить или протестировать.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Тестируемость: стратегии мокирования (Mocking)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4023360" cy="4119372"/>
          </a:xfrm>
          <a:prstGeom prst="roundRect">
            <a:avLst>
              <a:gd name="adj" fmla="val 2273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3694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Изоляция базы данных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3694176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тестирования роутов API реальная СУБД PostgreSQL подменяется мок-пулом `pg-mock`. Это исключает загрязнение тестовой базы данных и обеспечивает скорость выполнения тестов (миллисекунды вместо минут).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81728" y="822960"/>
            <a:ext cx="4078224" cy="4119372"/>
          </a:xfrm>
          <a:prstGeom prst="roundRect">
            <a:avLst>
              <a:gd name="adj" fmla="val 2242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93268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Имитация внешних систем (1С, MinIO)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1389888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Вместо вызовов к боевому серверу 1С используется легковесный мок-сервер API.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Пакет AWS SDK S3 настраивается на локальную заглушку, которая не загружает файлы в облако, а симулирует сохранение в оперативной памяти.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Поддерживаемость: типизация TypeScript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3474720" cy="4119372"/>
          </a:xfrm>
          <a:prstGeom prst="roundRect">
            <a:avLst>
              <a:gd name="adj" fmla="val 2632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21208" y="9326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Преимущества типизации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21208" y="1325880"/>
            <a:ext cx="3200400" cy="33878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Обнаружение 90% глупых ошибок опечаток на этапе компиляции.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Удобное автодополнение (IntelliSense) в редакторах.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Безопасный рефакторинг: при изменении структуры полей компилятор сразу подсветит все ошибочные места.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33088" y="822960"/>
            <a:ext cx="4626864" cy="4119372"/>
          </a:xfrm>
          <a:prstGeom prst="roundRect">
            <a:avLst>
              <a:gd name="adj" fmla="val 1776"/>
            </a:avLst>
          </a:prstGeom>
          <a:solidFill>
            <a:srgbClr val="0B132B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70248" y="905256"/>
            <a:ext cx="4352544" cy="3954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ED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interface ITicket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ED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string;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ED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title: string;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ED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description: string;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ED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status: 'new' | 'active' | 'closed';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ED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client_id: string;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ED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version: number;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ED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created_at: Date;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ED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ED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interface IMessage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ED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string;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ED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ticket_id: string;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ED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sender_id: string;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ED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text: string;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ED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sync_status: 'pending' | 'synced';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ED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Схемы валидации данных (Zod)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3474720" cy="4119372"/>
          </a:xfrm>
          <a:prstGeom prst="roundRect">
            <a:avLst>
              <a:gd name="adj" fmla="val 2632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21208" y="9326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Безопасный парсинг данных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21208" y="1325880"/>
            <a:ext cx="3200400" cy="33878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Zod проверяет входящие HTTP-запросы (body, query, params) до выполнения логики.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Автоматически отсекает лишние поля (защита от mass assignment).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Преобразует строковые типы в числа/даты.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Из схем Zod автоматически выводятся типы TS (`z.infer&lt;T&gt;`).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33088" y="822960"/>
            <a:ext cx="4626864" cy="4119372"/>
          </a:xfrm>
          <a:prstGeom prst="roundRect">
            <a:avLst>
              <a:gd name="adj" fmla="val 1776"/>
            </a:avLst>
          </a:prstGeom>
          <a:solidFill>
            <a:srgbClr val="0B132B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70248" y="905256"/>
            <a:ext cx="4352544" cy="3954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ED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z } from 'zod';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ED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CreateTicketSchema = z.object({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ED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title: z.string().min(3).max(100),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ED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description: z.string().min(10),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ED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category: z.enum(['1C_ERP', '1C_Accounting', 'Other']),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ED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attachments: z.array(z.string().uuid()).optional(),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ED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ED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CreateTicketDto = z.infer&lt;typeof CreateTicketSchema&gt;;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Расширяемость: плагины и паттерны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4023360" cy="4119372"/>
          </a:xfrm>
          <a:prstGeom prst="roundRect">
            <a:avLst>
              <a:gd name="adj" fmla="val 2273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3694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Паттерн Стратегия (Strategy)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3694176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отправки уведомлений используется паттерн 'Стратегия'. Это позволяет легко добавить новый канал (например, Telegram, E-mail, Push) без изменения логики создания тикета. Достаточно зарегистрировать класс, реализующий интерфейс `INotificationProvider`.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81728" y="822960"/>
            <a:ext cx="4078224" cy="4119372"/>
          </a:xfrm>
          <a:prstGeom prst="roundRect">
            <a:avLst>
              <a:gd name="adj" fmla="val 2242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93268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Слабая связанность хранилищ файлов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1389888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S3 скрыта за абстракцией `IFileStorage`. В процессе разработки мы используем локальный MinIO, но при развертывании в облаке можем переключиться на AWS S3 или Yandex Object Storage простым изменением переменной среды в `.env`.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Безопасность: авторизация JWT + SMS OTP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4023360" cy="4119372"/>
          </a:xfrm>
          <a:prstGeom prst="roundRect">
            <a:avLst>
              <a:gd name="adj" fmla="val 2273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3694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Двухфакторный вход по SMS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3694176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вводит номер телефона, система генерирует случайный 6-значный код и отправляет по SMS. Код хэшируется в БД с ограничением жизни в 5 минут. При успешном вводе генерируется пара токенов.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81728" y="822960"/>
            <a:ext cx="4078224" cy="4119372"/>
          </a:xfrm>
          <a:prstGeom prst="roundRect">
            <a:avLst>
              <a:gd name="adj" fmla="val 2242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93268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Bearer JWT (Access &amp; Refresh)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1389888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 Token: живет 15 минут, хранится в памяти, используется для авторизации запросов.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Refresh Token: живет 7 дней, хранится в Cookie HTTPOnly, используется для безопасного обновления access-токена.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Это исключает кражу токенов через XSS-скрипты.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Безопасность: защита от сетевых атак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4023360" cy="4119372"/>
          </a:xfrm>
          <a:prstGeom prst="roundRect">
            <a:avLst>
              <a:gd name="adj" fmla="val 2273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3694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Защита данных и S3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3694176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Файлы клиентов не хранятся в публичном доступе. Ссылка на скачивание имеет срок жизни 15 минут. На сервере включена библиотека `helmet` для защиты заголовков HTTP и CORS для блокировки посторонних доменов.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81728" y="822960"/>
            <a:ext cx="4078224" cy="4119372"/>
          </a:xfrm>
          <a:prstGeom prst="roundRect">
            <a:avLst>
              <a:gd name="adj" fmla="val 2242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93268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Валидация входящего трафика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1389888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Полная очистка входящих строк от HTML-тегов (XSS Clean).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Параметризованные SQL-запросы в Drizzle полностью исключают SQL-инъекции.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Ограничение частоты запросов (Rate Limiter) спасает авторизацию и отправку SMS от перебора (Brute Force).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Многопользовательский доступ: Optimistic Locking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4023360" cy="4119372"/>
          </a:xfrm>
          <a:prstGeom prst="roundRect">
            <a:avLst>
              <a:gd name="adj" fmla="val 2273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3694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нужна блокировка?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3694176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Клиент и Менеджер откроют один и тот же тикет одновременно, сделают разные правки и сохранят, то последнее сохранение перезапишет первое (проблема 'lost update'). Оптимистичная блокировка решает это без блокирования таблиц БД.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81728" y="822960"/>
            <a:ext cx="4078224" cy="4119372"/>
          </a:xfrm>
          <a:prstGeom prst="roundRect">
            <a:avLst>
              <a:gd name="adj" fmla="val 2242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93268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Механизм версии (version)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1389888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Каждая запись тикета содержит поле `version` (например, 5).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При PUT-запросе бэкенд проверяет: `UPDATE tickets SET title = ?, version = version + 1 WHERE id = ? AND version = 5`.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Если версия в базе изменилась, запрос вернет 0 измененных строк. Система выдаст конфликт 409.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Инструменты контроля качества</a:t>
            </a:r>
            <a:endParaRPr lang="en-US" sz="2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822960"/>
          <a:ext cx="8375904" cy="4119372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4718304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Инструмент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Тип анализа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проверяет в нашем проекте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ESLint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Статический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Качество синтаксиса JS/TS, соответствие стандартам кодирования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TypeScript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Статический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Корректность типов, сигнатур вызовов функций, отсутствие undefined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Jest Coverage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Динамический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Процент покрытия строк кода автотестами (цель &gt;80%)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 audit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Статический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Сканирование зависимостей на уязвимости (OWASP база)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Artillery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Динамический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Нагрузочное тестирование критических сценариев (RPS, Latency)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Выводы по теме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84048" y="3918204"/>
            <a:ext cx="8375904" cy="960120"/>
          </a:xfrm>
          <a:prstGeom prst="roundRect">
            <a:avLst>
              <a:gd name="adj" fmla="val 9524"/>
            </a:avLst>
          </a:prstGeom>
          <a:solidFill>
            <a:srgbClr val="0F1E36"/>
          </a:solidFill>
          <a:ln w="12700">
            <a:solidFill>
              <a:srgbClr val="0F1E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918204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Внутренние атрибуты качества (модульность, тестируемость, расширяемость, поддерживаемость, безопасность) напрямую определяют живучесть проекта «Личный кабинет». Благодаря использованию слоистой архитектуры бэкенда, строгой валидации Zod, надежной JWT-авторизации, механизма optimistic locking и автоматических тестов, команда получает чистый, защищенный код, готовый к безболезненному масштабированию и развертыванию.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P2 — Атрибуты качества для разработчиков</dc:title>
  <dc:subject>PptxGenJS Presentation</dc:subject>
  <dc:creator>Ломазина Александра, гр.22307</dc:creator>
  <cp:lastModifiedBy>Ломазина Александра, гр.22307</cp:lastModifiedBy>
  <cp:revision>1</cp:revision>
  <dcterms:created xsi:type="dcterms:W3CDTF">2026-06-24T11:04:15Z</dcterms:created>
  <dcterms:modified xsi:type="dcterms:W3CDTF">2026-06-24T11:04:15Z</dcterms:modified>
</cp:coreProperties>
</file>