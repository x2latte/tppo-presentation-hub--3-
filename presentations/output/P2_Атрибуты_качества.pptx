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-914400"/>
            <a:ext cx="3657600" cy="3657600"/>
          </a:xfrm>
          <a:prstGeom prst="ellipse">
            <a:avLst/>
          </a:prstGeom>
          <a:solidFill>
            <a:srgbClr val="F5A623">
              <a:alpha val="30000"/>
            </a:srgbClr>
          </a:solidFill>
          <a:ln w="12700">
            <a:solidFill>
              <a:srgbClr val="F5A623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548640" y="3474720"/>
            <a:ext cx="2011680" cy="2011680"/>
          </a:xfrm>
          <a:prstGeom prst="ellipse">
            <a:avLst/>
          </a:prstGeom>
          <a:solidFill>
            <a:srgbClr val="E94560">
              <a:alpha val="40000"/>
            </a:srgbClr>
          </a:solidFill>
          <a:ln w="12700">
            <a:solidFill>
              <a:srgbClr val="E94560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749808"/>
            <a:ext cx="2743200" cy="365760"/>
          </a:xfrm>
          <a:prstGeom prst="roundRect">
            <a:avLst>
              <a:gd name="adj" fmla="val 20000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7498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Тема 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61872"/>
            <a:ext cx="80467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Атрибуты качества для разработчиков</a:t>
            </a:r>
            <a:endParaRPr lang="en-US" sz="2600" dirty="0"/>
          </a:p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Developer-Oriented Quality Attributes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3364992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4F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Проект ТППО: «Личный кабинет для клиентов компании»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462272"/>
            <a:ext cx="9144000" cy="681228"/>
          </a:xfrm>
          <a:prstGeom prst="rect">
            <a:avLst/>
          </a:prstGeom>
          <a:solidFill>
            <a:srgbClr val="0D0D1A"/>
          </a:solidFill>
          <a:ln w="12700">
            <a:solidFill>
              <a:srgbClr val="0D0D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4462272"/>
            <a:ext cx="8229600" cy="6812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8B0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Выполнила: Ломазина Александра, гр 22307   |   Руководитель: Корзун Дмитрий Жоржевич   |   ИМИТ ПетрГУ,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Постановка задачи моделирования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Постановка практической задачи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Команда должна длительно поддерживать и масштабировать клиентский портал (интеграция с 1С, рост числа клиентов).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Конкретная задача моделирования: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Определить и оценить внутренние атрибуты качества ПО (модульность, тестируемость, поддерживаемость, безопасность), важные именно для разработчиков и архитекторов проекта TPPO.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Атрибуты качества: пользователь vs разработчик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Атрибуты качества: пользователь vs разработчик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Что видит конечный пользователь?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Простоту и отзывчивость интерфейса (Usability).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Высокую скорость отклика системы (Performance).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Постоянную доступность без сбоев (Uptime / Reliability).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Что важно инженеру и архитектору?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Модульность: легкое разделение на изолированные блоки.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Тестируемость: простое написание автотестов.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Поддерживаемость и расширяемость кодовой базы.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Ключевые атрибуты качества в проекте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96512" cy="1312164"/>
          </a:xfrm>
          <a:prstGeom prst="roundRect">
            <a:avLst>
              <a:gd name="adj" fmla="val 6969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21208" y="896112"/>
            <a:ext cx="3822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Модульность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21208" y="1207008"/>
            <a:ext cx="382219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Строгое разделение ответственности слоев (REST, Services, DB) для снижения зацепления (coupling).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663440" y="822960"/>
            <a:ext cx="4096512" cy="1312164"/>
          </a:xfrm>
          <a:prstGeom prst="roundRect">
            <a:avLst>
              <a:gd name="adj" fmla="val 6969"/>
            </a:avLst>
          </a:prstGeom>
          <a:solidFill>
            <a:srgbClr val="D4EDDA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00600" y="896112"/>
            <a:ext cx="3822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Тестируемость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800600" y="1207008"/>
            <a:ext cx="382219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Возможность легкого модульного, интеграционного и нагрузочного автоматического тестирования.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84048" y="2226564"/>
            <a:ext cx="4096512" cy="1312164"/>
          </a:xfrm>
          <a:prstGeom prst="roundRect">
            <a:avLst>
              <a:gd name="adj" fmla="val 6969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21208" y="2299716"/>
            <a:ext cx="3822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Читаемость/Поддерживаемость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1208" y="2610612"/>
            <a:ext cx="382219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Единообразие структуры кода, строгая типизация и самодокументируемость.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2226564"/>
            <a:ext cx="4096512" cy="1312164"/>
          </a:xfrm>
          <a:prstGeom prst="roundRect">
            <a:avLst>
              <a:gd name="adj" fmla="val 6969"/>
            </a:avLst>
          </a:prstGeom>
          <a:solidFill>
            <a:srgbClr val="D4EDDA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800600" y="2299716"/>
            <a:ext cx="3822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Расширяемость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00600" y="2610612"/>
            <a:ext cx="382219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Слабая связанность модулей позволяет быстро добавлять новые типы услуг и уведомлений.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84048" y="3630168"/>
            <a:ext cx="4096512" cy="1312164"/>
          </a:xfrm>
          <a:prstGeom prst="roundRect">
            <a:avLst>
              <a:gd name="adj" fmla="val 6969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1208" y="3703320"/>
            <a:ext cx="3822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Безопасность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21208" y="4014216"/>
            <a:ext cx="382219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Надежная авторизация, разграничение прав и защита от внедрения вредоносного кода.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Целевые количественные метрики качества</a:t>
            </a:r>
            <a:endParaRPr lang="en-US" sz="1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4119372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1920240"/>
                <a:gridCol w="1700784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Атрибут качества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Количественная метрика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Целевое значение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Способ контроля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Модульность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Размер модуля (строк кода / SLOC)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≤ 250 строк на файл / класс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Линтер (ESLint max-lines)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Тестируемость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Покрытие операторов кодовой базы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≥ 80% (для бизнес-логики)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Jest Coverage Report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Производительность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Время отклика API (95-й процентиль)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≤ 150 мс под нагрузкой 50 rps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Artillery Load Test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Надежность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Время доступности сервиса (Uptime)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≥ 99.9% годового аптайма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UptimeRobot / Promtail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Безопасность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Критические уязвимости в зависимостях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 уязвимостей (High / Critical)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npm audit / Snyk CI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Модульность: структура директорий бэкенда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3474720" cy="4119372"/>
          </a:xfrm>
          <a:prstGeom prst="roundRect">
            <a:avLst>
              <a:gd name="adj" fmla="val 2632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21208" y="93268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Преимущества структуры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21208" y="1325880"/>
            <a:ext cx="3200400" cy="33878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Разделение ответственности слоев.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Эндпоинты (routes) не содержат сырых запросов к SQL.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Вся бизнес-логика вынесена в сервисы (services).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Доступ к СУБД изолирован в слое миграций и репозиториев (db).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33088" y="822960"/>
            <a:ext cx="4626864" cy="4119372"/>
          </a:xfrm>
          <a:prstGeom prst="roundRect">
            <a:avLst>
              <a:gd name="adj" fmla="val 1776"/>
            </a:avLst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70248" y="905256"/>
            <a:ext cx="4352544" cy="3954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backend/src/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├── routes/         # REST API эндпоинты (контроллеры)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├── services/       # Бизнес-логика, воркеры, синк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├── middleware/     # Аутентификация, Zod-валидация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├── config/         # Подключения (Postgres, MinIO, 1C)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├── db/             # Схемы Drizzle ORM, миграции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├── types/          # Общие типы данных TypeScript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└── index.ts        # Главный файл запуска сервера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Изоляция слоев и слабая связанность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Нарушение связанности (Плохой подход) vs Разделение слоев (Хороший подход)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Нарушение связанности (Плохой подход):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Роутер напрямую делает SQL-запрос `SELECT * FROM tickets`.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Смешивание логики авторизации и рендеринга.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Фронтенд обращается к базе данных напрямую.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Любые изменения в СУБД ломают клиентский код.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Сложно писать изолированные тесты, так как все связано.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Разделение слоев (Хороший подход):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Контроллер лишь принимает запрос и отдает ответ.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Бизнес-логика живет в `TicketService`.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Работа с Postgres идет через `Drizzle` репозиторий.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Интеграция с 1С асинхронна через outbox-очередь.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Любой слой можно легко заменить или протестировать.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Тестируемость: стратегии мокирования (Mocking)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Изоляция базы данных и имитация внешних систем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Изоляция базы данных: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Для тестирования роутов API реальная СУБД PostgreSQL подменяется мок-пулом `pg-mock`. Это исключает загрязнение тестовой базы данных и обеспечивает скорость выполнения тестов (миллисекунды вместо минут).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Имитация внешних систем (1С, MinIO):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Вместо вызовов к боевому серверу 1С используется легковесный мок-сервер API.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Пакет AWS SDK S3 настраивается на локальную заглушку, которая не загружает файлы в облако, а симулирует сохранение в оперативной памяти.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Поддерживаемость: типизация TypeScript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3474720" cy="4119372"/>
          </a:xfrm>
          <a:prstGeom prst="roundRect">
            <a:avLst>
              <a:gd name="adj" fmla="val 2632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21208" y="93268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Преимущества типизации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21208" y="1325880"/>
            <a:ext cx="3200400" cy="3387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Обнаружение 90% глупых ошибок опечаток на этапе компиляции.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Удобное автодополнение (IntelliSense) в редакторах.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Безопасный рефакторинг: при изменении структуры полей компилятор сразу подсветит все ошибочные места.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33088" y="822960"/>
            <a:ext cx="4626864" cy="4119372"/>
          </a:xfrm>
          <a:prstGeom prst="roundRect">
            <a:avLst>
              <a:gd name="adj" fmla="val 1776"/>
            </a:avLst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70248" y="905256"/>
            <a:ext cx="4352544" cy="3954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interface ITicket {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id: string;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title: string;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description: string;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status: 'new' | 'active' | 'closed';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client_id: string;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version: number;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created_at: Date;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algn="l" indent="0" marL="0">
              <a:buNone/>
            </a:pP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interface IMessage {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id: string;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ticket_id: string;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sender_id: string;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text: string;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sync_status: 'pending' | 'synced';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Схемы валидации данных (Zod)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3474720" cy="4119372"/>
          </a:xfrm>
          <a:prstGeom prst="roundRect">
            <a:avLst>
              <a:gd name="adj" fmla="val 2632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21208" y="93268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Безопасный парсинг данных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21208" y="1325880"/>
            <a:ext cx="3200400" cy="3387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Zod проверяет входящие HTTP-запросы (body, query, params) до выполнения логики.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Автоматически отсекает лишние поля (защита от mass assignment).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Преобразует строковые типы в числа/даты.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Из схем Zod автоматически выводятся типы TS (`z.infer&lt;T&gt;`).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33088" y="822960"/>
            <a:ext cx="4626864" cy="4119372"/>
          </a:xfrm>
          <a:prstGeom prst="roundRect">
            <a:avLst>
              <a:gd name="adj" fmla="val 1776"/>
            </a:avLst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70248" y="905256"/>
            <a:ext cx="4352544" cy="3954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z } from 'zod';</a:t>
            </a:r>
            <a:endParaRPr lang="en-US" sz="1000" dirty="0"/>
          </a:p>
          <a:p>
            <a:pPr algn="l" indent="0" marL="0">
              <a:buNone/>
            </a:pP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const CreateTicketSchema = z.object({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title: z.string().min(3).max(100),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description: z.string().min(10),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category: z.enum(['1C_ERP', '1C_Accounting', 'Other']),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attachments: z.array(z.string().uuid()).optional(),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00" dirty="0"/>
          </a:p>
          <a:p>
            <a:pPr algn="l" indent="0" marL="0">
              <a:buNone/>
            </a:pP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 CreateTicketDto = z.infer&lt;typeof CreateTicketSchema&gt;;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Расширяемость: плагины и паттерны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Паттерн Стратегия и слабая связанность хранилищ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Паттерн Стратегия (Strategy):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Для отправки уведомлений используется паттерн 'Стратегия'. Это позволяет легко добавить новый канал (например, Telegram, E-mail, Push) без изменения логики создания тикета. Достаточно зарегистрировать класс, реализующий интерфейс `INotificationProvider`.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Слабая связанность хранилищ файлов: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Интеграция с S3 скрыта за абстракцией `IFileStorage`. В процессе разработки мы используем локальный MinIO, но при развертывании в облаке можем переключиться на AWS S3 или Yandex Object Storage простым изменением переменной среды в `.env`.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Безопасность: авторизация JWT + SMS OTP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Двухфакторный вход и Bearer JWT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Двухфакторный вход по SMS: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Пользователь вводит номер телефона, система генерирует случайный 6-значный код и отправляет по SMS. Код хэшируется в БД с ограничением жизни в 5 минут. При успешном вводе генерируется пара токенов.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Bearer JWT (Access &amp; Refresh):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Access Token: живет 15 минут, хранится в памяти, используется для авторизации запросов.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Refresh Token: живет 7 дней, хранится в Cookie HTTPOnly, используется для безопасного обновления access-токена.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Это исключает кражу токенов через XSS-скрипты.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Безопасность: защита от сетевых атак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Защита данных и валидация трафика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Защита данных и S3: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Файлы клиентов не хранятся в публичном доступе. Ссылка на скачивание имеет срок жизни 15 минут. На сервере включена библиотека `helmet` для защиты заголовков HTTP и CORS для блокировки посторонних доменов.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Валидация входящего трафика: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Полная очистка входящих строк от HTML-тегов (XSS Clean).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Параметризованные SQL-запросы в Drizzle полностью исключают SQL-инъекции.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Ограничение частоты запросов (Rate Limiter) спасает авторизацию и отправку SMS от перебора (Brute Force).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Многопользовательский доступ: Optimistic Locking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Зачем нужна блокировка и механизм версии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Зачем нужна блокировка?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Если Клиент и Менеджер откроют один и тот же тикет одновременно, сделают разные правки и сохранят, то последнее сохранение перезапишет первое (проблема 'lost update'). Оптимистичная блокировка решает это без блокирования таблиц БД.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Механизм версии (version):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Каждая запись тикета содержит поле `version` (например, 5).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При PUT-запросе бэкенд проверяет: `UPDATE tickets SET title = ?, version = version + 1 WHERE id = ? AND version = 5`.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Если версия в базе изменилась, запрос вернет 0 измененных строк. Система выдаст конфликт 409.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Инструменты контроля качества</a:t>
            </a:r>
            <a:endParaRPr lang="en-US" sz="1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4119372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4718304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Инструмент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Тип анализа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Что проверяет в нашем проекте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ESLint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Статический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Качество синтаксиса JS/TS, соответствие стандартам кодирования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TypeScript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Статический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Корректность типов, сигнатур вызовов функций, отсутствие undefined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Jest Coverage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Динамический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Процент покрытия строк кода автотестами (цель &gt;80%)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npm audit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Статический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Сканирование зависимостей на уязвимости (OWASP база)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Artillery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Динамический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Нагрузочное тестирование критических сценариев (RPS, Latency)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Выводы по теме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75488" y="868680"/>
            <a:ext cx="8193024" cy="40279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Внутренние атрибуты качества (модульность, тестируемость, расширяемость, поддерживаемость, безопасность) напрямую определяют живучесть проекта «Личный кабинет». Благодаря использованию слоистой архитектуры бэкенда, строгой валидации Zod, надежной JWT-авторизации, механизма optimistic locking и автоматических тестов, команда получает чистый, защищенный код, готовый к безболезненному масштабированию и развертыванию.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P2 — Атрибуты качества для разработчиков</dc:title>
  <dc:subject>PptxGenJS Presentation</dc:subject>
  <dc:creator>Ломазина Александра, гр 22307</dc:creator>
  <cp:lastModifiedBy>Ломазина Александра, гр 22307</cp:lastModifiedBy>
  <cp:revision>1</cp:revision>
  <dcterms:created xsi:type="dcterms:W3CDTF">2026-06-24T12:21:11Z</dcterms:created>
  <dcterms:modified xsi:type="dcterms:W3CDTF">2026-06-24T12:21:11Z</dcterms:modified>
</cp:coreProperties>
</file>